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c791d73ed64845" /><Relationship Type="http://schemas.openxmlformats.org/officeDocument/2006/relationships/extended-properties" Target="/docProps/app.xml" Id="R540aa628c412446b" /><Relationship Type="http://schemas.openxmlformats.org/officeDocument/2006/relationships/officeDocument" Target="/ppt/presentation.xml" Id="R1f81b0e248f34ecd" /></Relationships>
</file>

<file path=ppt/presentation.xml><?xml version="1.0" encoding="utf-8"?>
<p:presentation xmlns:p="http://schemas.openxmlformats.org/presentationml/2006/main">
  <p:sldMasterIdLst>
    <p:sldMasterId xmlns:r="http://schemas.openxmlformats.org/officeDocument/2006/relationships" id="2147483648" r:id="R9e6c138763404afc"/>
  </p:sldMasterIdLst>
  <p:notesMasterIdLst>
    <p:notesMasterId xmlns:r="http://schemas.openxmlformats.org/officeDocument/2006/relationships" r:id="R8da35bd507be4860"/>
  </p:notesMasterIdLst>
  <p:sldIdLst>
    <p:sldId xmlns:r="http://schemas.openxmlformats.org/officeDocument/2006/relationships" id="256" r:id="R300ce73748f842a2"/>
    <p:sldId xmlns:r="http://schemas.openxmlformats.org/officeDocument/2006/relationships" id="257" r:id="Rea77590075a14eb6"/>
    <p:sldId xmlns:r="http://schemas.openxmlformats.org/officeDocument/2006/relationships" id="258" r:id="R9f01b53108bf4e66"/>
    <p:sldId xmlns:r="http://schemas.openxmlformats.org/officeDocument/2006/relationships" id="259" r:id="R1c2cd63150c142a4"/>
    <p:sldId xmlns:r="http://schemas.openxmlformats.org/officeDocument/2006/relationships" id="260" r:id="Rd0ee956eaa3f46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bb2e530f25449b" /><Relationship Type="http://schemas.openxmlformats.org/officeDocument/2006/relationships/slideMaster" Target="/ppt/slideMasters/slideMaster1.xml" Id="R9e6c138763404afc" /><Relationship Type="http://schemas.openxmlformats.org/officeDocument/2006/relationships/notesMaster" Target="/ppt/notesMasters/notesMaster1.xml" Id="R8da35bd507be4860" /><Relationship Type="http://schemas.openxmlformats.org/officeDocument/2006/relationships/presProps" Target="/ppt/presProps.xml" Id="R8bd1c3c91e2646d7" /><Relationship Type="http://schemas.openxmlformats.org/officeDocument/2006/relationships/tableStyles" Target="/ppt/tableStyles.xml" Id="R94562f349fe14b2d" /><Relationship Type="http://schemas.openxmlformats.org/officeDocument/2006/relationships/slide" Target="/ppt/slides/slide1.xml" Id="R300ce73748f842a2" /><Relationship Type="http://schemas.openxmlformats.org/officeDocument/2006/relationships/slide" Target="/ppt/slides/slide2.xml" Id="Rea77590075a14eb6" /><Relationship Type="http://schemas.openxmlformats.org/officeDocument/2006/relationships/slide" Target="/ppt/slides/slide3.xml" Id="R9f01b53108bf4e66" /><Relationship Type="http://schemas.openxmlformats.org/officeDocument/2006/relationships/slide" Target="/ppt/slides/slide4.xml" Id="R1c2cd63150c142a4" /><Relationship Type="http://schemas.openxmlformats.org/officeDocument/2006/relationships/slide" Target="/ppt/slides/slide5.xml" Id="Rd0ee956eaa3f46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918158d60043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258e28267f463f" /><Relationship Type="http://schemas.openxmlformats.org/officeDocument/2006/relationships/notesMaster" Target="/ppt/notesMasters/notesMaster1.xml" Id="R72fa12a8dd9341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c9f9cbf8994a40" /><Relationship Type="http://schemas.openxmlformats.org/officeDocument/2006/relationships/notesMaster" Target="/ppt/notesMasters/notesMaster1.xml" Id="R5ac738d5e76449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dcaddbbd2a42bb" /><Relationship Type="http://schemas.openxmlformats.org/officeDocument/2006/relationships/notesMaster" Target="/ppt/notesMasters/notesMaster1.xml" Id="Rff4ed15516f348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d9cfe19c8b4af5" /><Relationship Type="http://schemas.openxmlformats.org/officeDocument/2006/relationships/notesMaster" Target="/ppt/notesMasters/notesMaster1.xml" Id="Rf63f3e92e67d40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87a010ae4646ab" /><Relationship Type="http://schemas.openxmlformats.org/officeDocument/2006/relationships/notesMaster" Target="/ppt/notesMasters/notesMaster1.xml" Id="R10a3fdbc4b4d48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problem is not simply slow reading. Relevant knowledge is hard to access when a new contract arrives. Karandeep is the CEO and primary reviewer/signer, with no legal team. Bhavin, Dhaval and Jay are the sellers identified in the discovery worksheet; their deals depend on a timely review. Growing volume adds pressure. The persona, empathy map and five Whys are derived from the supplied scenario, not claimed interviews. Their common insight is that review depends on one person reconstructing fragmented institutional knowledge. Cover art is a conceptual illustration.</a:t>
            </a:r>
          </a:p>
          <a:p xmlns:a="http://schemas.openxmlformats.org/drawingml/2006/main">
            <a:r>
              <a:t/>
            </a:r>
          </a:p>
          <a:p xmlns:a="http://schemas.openxmlformats.org/drawingml/2006/main">
            <a:r>
              <a:t>Sources:</a:t>
            </a:r>
          </a:p>
          <a:p xmlns:a="http://schemas.openxmlformats.org/drawingml/2006/main">
            <a:r>
              <a:t>/Users/nitinsuryawanshi/Desktop/Capstone_Codebasics/Neha Project/Delliverables/Ready Doc/AtliQ_Contract_Risk_Analyzer_User_Research_Final.xlsx</a:t>
            </a:r>
          </a:p>
          <a:p xmlns:a="http://schemas.openxmlformats.org/drawingml/2006/main">
            <a:r>
              <a:t>/Users/nitinsuryawanshi/Desktop/Capstone_Codebasics/Neha Project/Delliverables/Ready Doc/AI Opportunity Mapping.pdf</a:t>
            </a:r>
          </a:p>
          <a:p xmlns:a="http://schemas.openxmlformats.org/drawingml/2006/main">
            <a:r>
              <a:t>Scope choice: agreed Step 4 focus from the project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 the left column for Steps 1–4, then down the right for Steps 5–8. These are the eight process stages on page 3 of the opportunity map. Intake gathers counterparty, type, entity and deadline; completeness checks supporting agreements; clause review reads the current terms; historical review checks prior obligations. Risk prioritisation, negotiation and final review rely on human judgement. Capturing signed obligations makes later review possible. The bold Step 4 selection reflects our agreed MVP focus; it is not a claim that all eight stages are automated.</a:t>
            </a:r>
          </a:p>
          <a:p xmlns:a="http://schemas.openxmlformats.org/drawingml/2006/main">
            <a:r>
              <a:t/>
            </a:r>
          </a:p>
          <a:p xmlns:a="http://schemas.openxmlformats.org/drawingml/2006/main">
            <a:r>
              <a:t>Sources:</a:t>
            </a:r>
          </a:p>
          <a:p xmlns:a="http://schemas.openxmlformats.org/drawingml/2006/main">
            <a:r>
              <a:t>/Users/nitinsuryawanshi/Desktop/Capstone_Codebasics/Neha Project/Delliverables/Ready Doc/AtliQ_Contract_Risk_Analyzer_User_Research_Final.xlsx</a:t>
            </a:r>
          </a:p>
          <a:p xmlns:a="http://schemas.openxmlformats.org/drawingml/2006/main">
            <a:r>
              <a:t>/Users/nitinsuryawanshi/Desktop/Capstone_Codebasics/Neha Project/Delliverables/Ready Doc/AI Opportunity Mapping.pdf</a:t>
            </a:r>
          </a:p>
          <a:p xmlns:a="http://schemas.openxmlformats.org/drawingml/2006/main">
            <a:r>
              <a:t>Scope choice: agreed Step 4 focus from the project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PDF explores AI in both Step 3 and Step 4. We prioritised Step 4 because it directly addresses inaccessible institutional knowledge: an incoming contract alone cannot show restrictions in other agreements. This is qualitative product reasoning, not a fabricated score or measured benefit. Step 3 remains useful for extracting the incoming terms needed for comparison. Step 4 is the planned core AI-supported workflow, not autonomous legal judgement. The broader map mentions exclusivity, non-compete, pricing and IP commitments; our previously agreed first MVP narrows comparison to exclusivity and non-compete.</a:t>
            </a:r>
          </a:p>
          <a:p xmlns:a="http://schemas.openxmlformats.org/drawingml/2006/main">
            <a:r>
              <a:t/>
            </a:r>
          </a:p>
          <a:p xmlns:a="http://schemas.openxmlformats.org/drawingml/2006/main">
            <a:r>
              <a:t>Sources:</a:t>
            </a:r>
          </a:p>
          <a:p xmlns:a="http://schemas.openxmlformats.org/drawingml/2006/main">
            <a:r>
              <a:t>/Users/nitinsuryawanshi/Desktop/Capstone_Codebasics/Neha Project/Delliverables/Ready Doc/AtliQ_Contract_Risk_Analyzer_User_Research_Final.xlsx</a:t>
            </a:r>
          </a:p>
          <a:p xmlns:a="http://schemas.openxmlformats.org/drawingml/2006/main">
            <a:r>
              <a:t>/Users/nitinsuryawanshi/Desktop/Capstone_Codebasics/Neha Project/Delliverables/Ready Doc/AI Opportunity Mapping.pdf</a:t>
            </a:r>
          </a:p>
          <a:p xmlns:a="http://schemas.openxmlformats.org/drawingml/2006/main">
            <a:r>
              <a:t>Scope choice: agreed Step 4 focus from the project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opportunity map describes searching signed commitments, comparing them with the new deal and explaining the possible conflict in simple language. The brief should show the old clause and relevant incoming terms, and explain why the overlap needs attention. Confirmed context is important: assumptions about scope, dates or exceptions must not be presented as facts. The supplied project workflow adds visible clarification for missing evidence and renewed comparison after evidence changes. The authorised reviewer, currently represented by Karandeep, validates and decides. The application role should survive a change of CEO.</a:t>
            </a:r>
          </a:p>
          <a:p xmlns:a="http://schemas.openxmlformats.org/drawingml/2006/main">
            <a:r>
              <a:t/>
            </a:r>
          </a:p>
          <a:p xmlns:a="http://schemas.openxmlformats.org/drawingml/2006/main">
            <a:r>
              <a:t>Sources:</a:t>
            </a:r>
          </a:p>
          <a:p xmlns:a="http://schemas.openxmlformats.org/drawingml/2006/main">
            <a:r>
              <a:t>/Users/nitinsuryawanshi/Desktop/Capstone_Codebasics/Neha Project/Delliverables/Ready Doc/AtliQ_Contract_Risk_Analyzer_User_Research_Final.xlsx</a:t>
            </a:r>
          </a:p>
          <a:p xmlns:a="http://schemas.openxmlformats.org/drawingml/2006/main">
            <a:r>
              <a:t>/Users/nitinsuryawanshi/Desktop/Capstone_Codebasics/Neha Project/Delliverables/Ready Doc/AI Opportunity Mapping.pdf</a:t>
            </a:r>
          </a:p>
          <a:p xmlns:a="http://schemas.openxmlformats.org/drawingml/2006/main">
            <a:r>
              <a:t>Scope choice: agreed Step 4 focus from the project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guardrails paraphrase the four Step 4 mitigations on page 2 of the AI Opportunity Mapping PDF: grounded evidence, human validation, human authority and restricted access. The PDF maps a broader set of historical obligations; the exclusivity/non-compete boundary comes from the scope agreed in the project discussion. The discovery solution includes wider clause, entity and paperwork needs, but they are not all automated in this first release. The intended value is more informed review with less effort reconstructing evidence; no outcome measurement or improvement percentage is claimed. Close by stating explicitly: Step 4 is our selected AI focus, while the human retains the final deal decision.</a:t>
            </a:r>
          </a:p>
          <a:p xmlns:a="http://schemas.openxmlformats.org/drawingml/2006/main">
            <a:r>
              <a:t/>
            </a:r>
          </a:p>
          <a:p xmlns:a="http://schemas.openxmlformats.org/drawingml/2006/main">
            <a:r>
              <a:t>Sources:</a:t>
            </a:r>
          </a:p>
          <a:p xmlns:a="http://schemas.openxmlformats.org/drawingml/2006/main">
            <a:r>
              <a:t>/Users/nitinsuryawanshi/Desktop/Capstone_Codebasics/Neha Project/Delliverables/Ready Doc/AtliQ_Contract_Risk_Analyzer_User_Research_Final.xlsx</a:t>
            </a:r>
          </a:p>
          <a:p xmlns:a="http://schemas.openxmlformats.org/drawingml/2006/main">
            <a:r>
              <a:t>/Users/nitinsuryawanshi/Desktop/Capstone_Codebasics/Neha Project/Delliverables/Ready Doc/AI Opportunity Mapping.pdf</a:t>
            </a:r>
          </a:p>
          <a:p xmlns:a="http://schemas.openxmlformats.org/drawingml/2006/main">
            <a:r>
              <a:t>Scope choice: agreed Step 4 focus from the project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3d185bc42d4f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78925d179d4f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aea21ca3c04c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1626dca097a4c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259f07cf004a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581e9b5b87847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9780E5-2FDD-4242-A3A1-10325D1D8D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1F036F-B762-4951-8035-E4B66DDDC8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2EDFE5-3C0D-4014-9783-A493379207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AB02C0-1404-45D5-BA23-0CBA2FC777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B22B10-E5B6-4432-8351-8FBCBDCBDC0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87FE5F-28C5-4D82-AB10-39CCC98312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806C74-3617-41B1-A812-EFE0E8714C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D7C680-CD0F-4F0D-92A8-7425EF9CE28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B62320-8123-425B-9AA5-C57617610B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F08902-A478-4E4F-B65D-60A63C7C7C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d6e144292a4ccd" /><Relationship Type="http://schemas.openxmlformats.org/officeDocument/2006/relationships/slideLayout" Target="/ppt/slideLayouts/slideLayout1.xml" Id="Race5fb7ca540461b" /><Relationship Type="http://schemas.openxmlformats.org/officeDocument/2006/relationships/slideLayout" Target="/ppt/slideLayouts/slideLayout2.xml" Id="Rc48b14c7c9e749f2" /><Relationship Type="http://schemas.openxmlformats.org/officeDocument/2006/relationships/slideLayout" Target="/ppt/slideLayouts/slideLayout3.xml" Id="R7130dedaf00f4202" /><Relationship Type="http://schemas.openxmlformats.org/officeDocument/2006/relationships/slideLayout" Target="/ppt/slideLayouts/slideLayout4.xml" Id="R287775053243477d" /><Relationship Type="http://schemas.openxmlformats.org/officeDocument/2006/relationships/slideLayout" Target="/ppt/slideLayouts/slideLayout5.xml" Id="R3a6e3cc85794428b" /><Relationship Type="http://schemas.openxmlformats.org/officeDocument/2006/relationships/slideLayout" Target="/ppt/slideLayouts/slideLayout6.xml" Id="R820ab85b40a647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e5fb7ca540461b"/>
    <p:sldLayoutId xmlns:r="http://schemas.openxmlformats.org/officeDocument/2006/relationships" id="2147483650" r:id="Rc48b14c7c9e749f2"/>
    <p:sldLayoutId xmlns:r="http://schemas.openxmlformats.org/officeDocument/2006/relationships" id="2147483651" r:id="R7130dedaf00f4202"/>
    <p:sldLayoutId xmlns:r="http://schemas.openxmlformats.org/officeDocument/2006/relationships" id="2147483652" r:id="R287775053243477d"/>
    <p:sldLayoutId xmlns:r="http://schemas.openxmlformats.org/officeDocument/2006/relationships" id="2147483653" r:id="R3a6e3cc85794428b"/>
    <p:sldLayoutId xmlns:r="http://schemas.openxmlformats.org/officeDocument/2006/relationships" id="2147483654" r:id="R820ab85b40a647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2f088d8e67465f" /><Relationship Type="http://schemas.openxmlformats.org/officeDocument/2006/relationships/image" Target="/ppt/media/image.png" Id="Rc4a9eff4be6941f9" /><Relationship Type="http://schemas.openxmlformats.org/officeDocument/2006/relationships/notesSlide" Target="/ppt/notesSlides/notesSlide1.xml" Id="Ra40e84cf088744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906a25fbcf415d" /><Relationship Type="http://schemas.openxmlformats.org/officeDocument/2006/relationships/notesSlide" Target="/ppt/notesSlides/notesSlide2.xml" Id="R179e291a488740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f58ba3375a4c7f" /><Relationship Type="http://schemas.openxmlformats.org/officeDocument/2006/relationships/notesSlide" Target="/ppt/notesSlides/notesSlide3.xml" Id="Rb57e35ae61f841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57a951131e49c8" /><Relationship Type="http://schemas.openxmlformats.org/officeDocument/2006/relationships/notesSlide" Target="/ppt/notesSlides/notesSlide4.xml" Id="R14312667974248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4b64f198d9464c" /><Relationship Type="http://schemas.openxmlformats.org/officeDocument/2006/relationships/notesSlide" Target="/ppt/notesSlides/notesSlide5.xml" Id="R2d2d5418d16f427d" /></Relationships>
</file>

<file path=ppt/slides/slide1.xml><?xml version="1.0" encoding="utf-8"?>
<p:sld xmlns:p="http://schemas.openxmlformats.org/presentationml/2006/main">
  <p:cSld>
    <p:bg>
      <p:bgPr>
        <a:solidFill xmlns:a="http://schemas.openxmlformats.org/drawingml/2006/main">
          <a:srgbClr val="0B173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C92EEE2-AAEB-4949-84EC-152EC80F89AF}"/>
              </a:ext>
            </a:extLst>
          </p:cNvPr>
          <p:cNvPicPr>
            <a:picLocks xmlns:a="http://schemas.openxmlformats.org/drawingml/2006/main" noChangeAspect="1"/>
          </p:cNvPicPr>
          <p:nvPr/>
        </p:nvPicPr>
        <p:blipFill>
          <a:blip xmlns:r="http://schemas.openxmlformats.org/officeDocument/2006/relationships" xmlns:a="http://schemas.openxmlformats.org/drawingml/2006/main" r:embed="Rc4a9eff4be6941f9"/>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20EB34-DFD2-4D7D-956B-9664B28144EE}"/>
              </a:ext>
            </a:extLst>
          </p:cNvPr>
          <p:cNvSpPr>
            <a:spLocks xmlns:a="http://schemas.openxmlformats.org/drawingml/2006/main" noGrp="1"/>
          </p:cNvSpPr>
          <p:nvPr/>
        </p:nvSpPr>
        <p:spPr>
          <a:xfrm xmlns:a="http://schemas.openxmlformats.org/drawingml/2006/main">
            <a:off x="609600" y="428625"/>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99BCFF"/>
                </a:solidFill>
                <a:latin typeface="Arial"/>
                <a:ea typeface="Arial"/>
                <a:cs typeface="Arial"/>
              </a:defRPr>
            </a:defPPr>
          </a:lstStyle>
          <a:p xmlns:a="http://schemas.openxmlformats.org/drawingml/2006/main">
            <a:pPr>
              <a:defRPr sz="1575" b="1">
                <a:solidFill>
                  <a:srgbClr val="99BCFF"/>
                </a:solidFill>
                <a:latin typeface="Arial"/>
                <a:ea typeface="Arial"/>
                <a:cs typeface="Arial"/>
              </a:defRPr>
            </a:pPr>
            <a:r>
              <a:rPr sz="1575" b="1">
                <a:solidFill>
                  <a:srgbClr val="99BCFF"/>
                </a:solidFill>
                <a:latin typeface="Arial"/>
                <a:ea typeface="Arial"/>
                <a:cs typeface="Arial"/>
              </a:rPr>
              <a:t>ATLIQ CONTRACT RISK ANALYZER</a:t>
            </a:r>
          </a:p>
        </p:txBody>
      </p:sp>
      <p:sp>
        <p:nvSpPr>
          <p:cNvPr id="3" name="">
            <a:extLst xmlns:a="http://schemas.openxmlformats.org/drawingml/2006/main">
              <a:ext uri="{FF2B5EF4-FFF2-40B4-BE49-F238E27FC236}">
                <a16:creationId xmlns:a16="http://schemas.microsoft.com/office/drawing/2014/main" id="{0571D5E0-40EF-4CD1-AFBE-E4F3E2A01E50}"/>
              </a:ext>
            </a:extLst>
          </p:cNvPr>
          <p:cNvSpPr>
            <a:spLocks xmlns:a="http://schemas.openxmlformats.org/drawingml/2006/main" noGrp="1"/>
          </p:cNvSpPr>
          <p:nvPr/>
        </p:nvSpPr>
        <p:spPr>
          <a:xfrm xmlns:a="http://schemas.openxmlformats.org/drawingml/2006/main">
            <a:off x="609600" y="1190625"/>
            <a:ext cx="7143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Every new deal</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needs the context</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of past promises.</a:t>
            </a:r>
          </a:p>
        </p:txBody>
      </p:sp>
      <p:sp>
        <p:nvSpPr>
          <p:cNvPr id="4" name="">
            <a:extLst xmlns:a="http://schemas.openxmlformats.org/drawingml/2006/main">
              <a:ext uri="{FF2B5EF4-FFF2-40B4-BE49-F238E27FC236}">
                <a16:creationId xmlns:a16="http://schemas.microsoft.com/office/drawing/2014/main" id="{7591FC6B-7255-40CD-B5D7-45AF7A1656EA}"/>
              </a:ext>
            </a:extLst>
          </p:cNvPr>
          <p:cNvSpPr>
            <a:spLocks xmlns:a="http://schemas.openxmlformats.org/drawingml/2006/main" noGrp="1"/>
          </p:cNvSpPr>
          <p:nvPr/>
        </p:nvSpPr>
        <p:spPr>
          <a:xfrm xmlns:a="http://schemas.openxmlformats.org/drawingml/2006/main">
            <a:off x="647700" y="381000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BE6FB"/>
                </a:solidFill>
                <a:latin typeface="Arial"/>
                <a:ea typeface="Arial"/>
                <a:cs typeface="Arial"/>
              </a:defRPr>
            </a:defPPr>
          </a:lstStyle>
          <a:p xmlns:a="http://schemas.openxmlformats.org/drawingml/2006/main">
            <a:pPr>
              <a:defRPr sz="2025" b="0">
                <a:solidFill>
                  <a:srgbClr val="DBE6FB"/>
                </a:solidFill>
                <a:latin typeface="Arial"/>
                <a:ea typeface="Arial"/>
                <a:cs typeface="Arial"/>
              </a:defRPr>
            </a:pPr>
            <a:r>
              <a:rPr sz="2025" b="0">
                <a:solidFill>
                  <a:srgbClr val="DBE6FB"/>
                </a:solidFill>
                <a:latin typeface="Arial"/>
                <a:ea typeface="Arial"/>
                <a:cs typeface="Arial"/>
              </a:rPr>
              <a:t>Karandeep reviews and signs without a legal team.</a:t>
            </a:r>
          </a:p>
          <a:p xmlns:a="http://schemas.openxmlformats.org/drawingml/2006/main">
            <a:pPr>
              <a:defRPr sz="2025" b="0">
                <a:solidFill>
                  <a:srgbClr val="DBE6FB"/>
                </a:solidFill>
                <a:latin typeface="Arial"/>
                <a:ea typeface="Arial"/>
                <a:cs typeface="Arial"/>
              </a:defRPr>
            </a:pPr>
            <a:r>
              <a:rPr sz="2025" b="0">
                <a:solidFill>
                  <a:srgbClr val="DBE6FB"/>
                </a:solidFill>
                <a:latin typeface="Arial"/>
                <a:ea typeface="Arial"/>
                <a:cs typeface="Arial"/>
              </a:rPr>
              <a:t>Sellers wait while he reconstructs the context.</a:t>
            </a:r>
          </a:p>
        </p:txBody>
      </p:sp>
      <p:sp>
        <p:nvSpPr>
          <p:cNvPr id="5" name="">
            <a:extLst xmlns:a="http://schemas.openxmlformats.org/drawingml/2006/main">
              <a:ext uri="{FF2B5EF4-FFF2-40B4-BE49-F238E27FC236}">
                <a16:creationId xmlns:a16="http://schemas.microsoft.com/office/drawing/2014/main" id="{8750B007-6263-4111-B7EA-90C8DA84985E}"/>
              </a:ext>
            </a:extLst>
          </p:cNvPr>
          <p:cNvSpPr>
            <a:spLocks xmlns:a="http://schemas.openxmlformats.org/drawingml/2006/main" noGrp="1"/>
          </p:cNvSpPr>
          <p:nvPr/>
        </p:nvSpPr>
        <p:spPr>
          <a:xfrm xmlns:a="http://schemas.openxmlformats.org/drawingml/2006/main">
            <a:off x="647700" y="50673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99BCFF"/>
                </a:solidFill>
                <a:latin typeface="Arial"/>
                <a:ea typeface="Arial"/>
                <a:cs typeface="Arial"/>
              </a:defRPr>
            </a:defPPr>
          </a:lstStyle>
          <a:p xmlns:a="http://schemas.openxmlformats.org/drawingml/2006/main">
            <a:pPr>
              <a:defRPr sz="1275" b="1">
                <a:solidFill>
                  <a:srgbClr val="99BCFF"/>
                </a:solidFill>
                <a:latin typeface="Arial"/>
                <a:ea typeface="Arial"/>
                <a:cs typeface="Arial"/>
              </a:defRPr>
            </a:pPr>
            <a:r>
              <a:rPr sz="1275" b="1">
                <a:solidFill>
                  <a:srgbClr val="99BCFF"/>
                </a:solidFill>
                <a:latin typeface="Arial"/>
                <a:ea typeface="Arial"/>
                <a:cs typeface="Arial"/>
              </a:rPr>
              <a:t>ROOT CAUSE</a:t>
            </a:r>
          </a:p>
        </p:txBody>
      </p:sp>
      <p:sp>
        <p:nvSpPr>
          <p:cNvPr id="6" name="">
            <a:extLst xmlns:a="http://schemas.openxmlformats.org/drawingml/2006/main">
              <a:ext uri="{FF2B5EF4-FFF2-40B4-BE49-F238E27FC236}">
                <a16:creationId xmlns:a16="http://schemas.microsoft.com/office/drawing/2014/main" id="{4DFFC39B-692B-4EDC-B8A3-05C1C71853B9}"/>
              </a:ext>
            </a:extLst>
          </p:cNvPr>
          <p:cNvSpPr>
            <a:spLocks xmlns:a="http://schemas.openxmlformats.org/drawingml/2006/main" noGrp="1"/>
          </p:cNvSpPr>
          <p:nvPr/>
        </p:nvSpPr>
        <p:spPr>
          <a:xfrm xmlns:a="http://schemas.openxmlformats.org/drawingml/2006/main">
            <a:off x="647700" y="5457825"/>
            <a:ext cx="704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Institutional contract knowledge is scattered</a:t>
            </a:r>
          </a:p>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across signed PDFs, emails and memory.</a:t>
            </a:r>
          </a:p>
        </p:txBody>
      </p:sp>
      <p:sp>
        <p:nvSpPr>
          <p:cNvPr id="7" name="">
            <a:extLst xmlns:a="http://schemas.openxmlformats.org/drawingml/2006/main">
              <a:ext uri="{FF2B5EF4-FFF2-40B4-BE49-F238E27FC236}">
                <a16:creationId xmlns:a16="http://schemas.microsoft.com/office/drawing/2014/main" id="{62912C37-2003-41EE-9FC2-B96459702263}"/>
              </a:ext>
            </a:extLst>
          </p:cNvPr>
          <p:cNvSpPr>
            <a:spLocks xmlns:a="http://schemas.openxmlformats.org/drawingml/2006/main" noGrp="1"/>
          </p:cNvSpPr>
          <p:nvPr/>
        </p:nvSpPr>
        <p:spPr>
          <a:xfrm xmlns:a="http://schemas.openxmlformats.org/drawingml/2006/main">
            <a:off x="647700" y="64865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B6C8E3"/>
                </a:solidFill>
                <a:latin typeface="Arial"/>
                <a:ea typeface="Arial"/>
                <a:cs typeface="Arial"/>
              </a:defRPr>
            </a:defPPr>
          </a:lstStyle>
          <a:p xmlns:a="http://schemas.openxmlformats.org/drawingml/2006/main">
            <a:pPr>
              <a:defRPr sz="1200" b="0">
                <a:solidFill>
                  <a:srgbClr val="B6C8E3"/>
                </a:solidFill>
                <a:latin typeface="Arial"/>
                <a:ea typeface="Arial"/>
                <a:cs typeface="Arial"/>
              </a:defRPr>
            </a:pPr>
            <a:r>
              <a:rPr sz="1200" b="0">
                <a:solidFill>
                  <a:srgbClr val="B6C8E3"/>
                </a:solidFill>
                <a:latin typeface="Arial"/>
                <a:ea typeface="Arial"/>
                <a:cs typeface="Arial"/>
              </a:rPr>
              <a:t>Neha Chouksey  ·  AI product management capstone</a:t>
            </a:r>
          </a:p>
        </p:txBody>
      </p:sp>
    </p:spTree>
    <p:extLst>
      <p:ext uri="{BB962C8B-B14F-4D97-AF65-F5344CB8AC3E}">
        <p14:creationId xmlns:p14="http://schemas.microsoft.com/office/powerpoint/2010/main" val="138750884"/>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243CF69-EFBB-46DA-A1C1-B4652BAF806F}"/>
              </a:ext>
            </a:extLst>
          </p:cNvPr>
          <p:cNvSpPr>
            <a:spLocks xmlns:a="http://schemas.openxmlformats.org/drawingml/2006/main" noGrp="1"/>
          </p:cNvSpPr>
          <p:nvPr/>
        </p:nvSpPr>
        <p:spPr>
          <a:xfrm xmlns:a="http://schemas.openxmlformats.org/drawingml/2006/main">
            <a:off x="609600" y="2286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D4ED8"/>
                </a:solidFill>
                <a:latin typeface="Arial"/>
                <a:ea typeface="Arial"/>
                <a:cs typeface="Arial"/>
              </a:defRPr>
            </a:defPPr>
          </a:lstStyle>
          <a:p xmlns:a="http://schemas.openxmlformats.org/drawingml/2006/main">
            <a:pPr>
              <a:defRPr sz="1125" b="1">
                <a:solidFill>
                  <a:srgbClr val="1D4ED8"/>
                </a:solidFill>
                <a:latin typeface="Arial"/>
                <a:ea typeface="Arial"/>
                <a:cs typeface="Arial"/>
              </a:defRPr>
            </a:pPr>
            <a:r>
              <a:rPr sz="1125" b="1">
                <a:solidFill>
                  <a:srgbClr val="1D4ED8"/>
                </a:solidFill>
                <a:latin typeface="Arial"/>
                <a:ea typeface="Arial"/>
                <a:cs typeface="Arial"/>
              </a:rPr>
              <a:t>01 / CURRENT CONTRACT REVIEW</a:t>
            </a:r>
          </a:p>
        </p:txBody>
      </p:sp>
      <p:sp>
        <p:nvSpPr>
          <p:cNvPr id="2" name="">
            <a:extLst xmlns:a="http://schemas.openxmlformats.org/drawingml/2006/main">
              <a:ext uri="{FF2B5EF4-FFF2-40B4-BE49-F238E27FC236}">
                <a16:creationId xmlns:a16="http://schemas.microsoft.com/office/drawing/2014/main" id="{205EF6DA-AECA-423E-A71E-0F601C54B569}"/>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1733"/>
                </a:solidFill>
                <a:latin typeface="Arial"/>
                <a:ea typeface="Arial"/>
                <a:cs typeface="Arial"/>
              </a:defRPr>
            </a:defPPr>
          </a:lstStyle>
          <a:p xmlns:a="http://schemas.openxmlformats.org/drawingml/2006/main">
            <a:pPr>
              <a:defRPr sz="3300" b="1">
                <a:solidFill>
                  <a:srgbClr val="0B1733"/>
                </a:solidFill>
                <a:latin typeface="Arial"/>
                <a:ea typeface="Arial"/>
                <a:cs typeface="Arial"/>
              </a:defRPr>
            </a:pPr>
            <a:r>
              <a:rPr sz="3300" b="1">
                <a:solidFill>
                  <a:srgbClr val="0B1733"/>
                </a:solidFill>
                <a:latin typeface="Arial"/>
                <a:ea typeface="Arial"/>
                <a:cs typeface="Arial"/>
              </a:rPr>
              <a:t>The full journey: eight steps, one knowledge gap</a:t>
            </a:r>
          </a:p>
        </p:txBody>
      </p:sp>
      <p:sp>
        <p:nvSpPr>
          <p:cNvPr id="3" name="">
            <a:extLst xmlns:a="http://schemas.openxmlformats.org/drawingml/2006/main">
              <a:ext uri="{FF2B5EF4-FFF2-40B4-BE49-F238E27FC236}">
                <a16:creationId xmlns:a16="http://schemas.microsoft.com/office/drawing/2014/main" id="{91723A85-197A-467C-A10E-81DCEF9296DF}"/>
              </a:ext>
            </a:extLst>
          </p:cNvPr>
          <p:cNvSpPr>
            <a:spLocks xmlns:a="http://schemas.openxmlformats.org/drawingml/2006/main" noGrp="1"/>
          </p:cNvSpPr>
          <p:nvPr/>
        </p:nvSpPr>
        <p:spPr>
          <a:xfrm xmlns:a="http://schemas.openxmlformats.org/drawingml/2006/main">
            <a:off x="609600" y="648652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079"/>
                </a:solidFill>
                <a:latin typeface="Arial"/>
                <a:ea typeface="Arial"/>
                <a:cs typeface="Arial"/>
              </a:defRPr>
            </a:defPPr>
          </a:lstStyle>
          <a:p xmlns:a="http://schemas.openxmlformats.org/drawingml/2006/main">
            <a:pPr>
              <a:defRPr sz="975" b="0">
                <a:solidFill>
                  <a:srgbClr val="526079"/>
                </a:solidFill>
                <a:latin typeface="Arial"/>
                <a:ea typeface="Arial"/>
                <a:cs typeface="Arial"/>
              </a:defRPr>
            </a:pPr>
            <a:r>
              <a:rPr sz="975" b="0">
                <a:solidFill>
                  <a:srgbClr val="526079"/>
                </a:solidFill>
                <a:latin typeface="Arial"/>
                <a:ea typeface="Arial"/>
                <a:cs typeface="Arial"/>
              </a:rPr>
              <a:t>ATLIQ  /  DISCOVERY → AI OPPORTUNITY</a:t>
            </a:r>
          </a:p>
        </p:txBody>
      </p:sp>
      <p:sp>
        <p:nvSpPr>
          <p:cNvPr id="4" name="">
            <a:extLst xmlns:a="http://schemas.openxmlformats.org/drawingml/2006/main">
              <a:ext uri="{FF2B5EF4-FFF2-40B4-BE49-F238E27FC236}">
                <a16:creationId xmlns:a16="http://schemas.microsoft.com/office/drawing/2014/main" id="{07E37B34-FC17-48A4-A686-31B679AFC613}"/>
              </a:ext>
            </a:extLst>
          </p:cNvPr>
          <p:cNvSpPr>
            <a:spLocks xmlns:a="http://schemas.openxmlformats.org/drawingml/2006/main" noGrp="1"/>
          </p:cNvSpPr>
          <p:nvPr/>
        </p:nvSpPr>
        <p:spPr>
          <a:xfrm xmlns:a="http://schemas.openxmlformats.org/drawingml/2006/main">
            <a:off x="11182350" y="64389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9"/>
                </a:solidFill>
                <a:latin typeface="Arial"/>
                <a:ea typeface="Arial"/>
                <a:cs typeface="Arial"/>
              </a:defRPr>
            </a:defPPr>
          </a:lstStyle>
          <a:p xmlns:a="http://schemas.openxmlformats.org/drawingml/2006/main">
            <a:pPr>
              <a:defRPr sz="1350" b="0">
                <a:solidFill>
                  <a:srgbClr val="526079"/>
                </a:solidFill>
                <a:latin typeface="Arial"/>
                <a:ea typeface="Arial"/>
                <a:cs typeface="Arial"/>
              </a:defRPr>
            </a:pPr>
            <a:r>
              <a:rPr sz="1350" b="0">
                <a:solidFill>
                  <a:srgbClr val="526079"/>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BA7D3D4-B3E3-46A2-9247-15E1048009A5}"/>
              </a:ext>
            </a:extLst>
          </p:cNvPr>
          <p:cNvSpPr>
            <a:spLocks xmlns:a="http://schemas.openxmlformats.org/drawingml/2006/main" noGrp="1"/>
          </p:cNvSpPr>
          <p:nvPr/>
        </p:nvSpPr>
        <p:spPr>
          <a:xfrm xmlns:a="http://schemas.openxmlformats.org/drawingml/2006/main">
            <a:off x="609600" y="18192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485753A-B2EF-4725-B26B-43176B50B31E}"/>
              </a:ext>
            </a:extLst>
          </p:cNvPr>
          <p:cNvSpPr>
            <a:spLocks xmlns:a="http://schemas.openxmlformats.org/drawingml/2006/main" noGrp="1"/>
          </p:cNvSpPr>
          <p:nvPr/>
        </p:nvSpPr>
        <p:spPr>
          <a:xfrm xmlns:a="http://schemas.openxmlformats.org/drawingml/2006/main">
            <a:off x="1343025" y="18192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Contract Intake</a:t>
            </a:r>
          </a:p>
        </p:txBody>
      </p:sp>
      <p:sp>
        <p:nvSpPr>
          <p:cNvPr id="7" name="">
            <a:extLst xmlns:a="http://schemas.openxmlformats.org/drawingml/2006/main">
              <a:ext uri="{FF2B5EF4-FFF2-40B4-BE49-F238E27FC236}">
                <a16:creationId xmlns:a16="http://schemas.microsoft.com/office/drawing/2014/main" id="{27D8322A-2DE7-4AD7-938A-D35C04385EF6}"/>
              </a:ext>
            </a:extLst>
          </p:cNvPr>
          <p:cNvSpPr>
            <a:spLocks xmlns:a="http://schemas.openxmlformats.org/drawingml/2006/main" noGrp="1"/>
          </p:cNvSpPr>
          <p:nvPr/>
        </p:nvSpPr>
        <p:spPr>
          <a:xfrm xmlns:a="http://schemas.openxmlformats.org/drawingml/2006/main">
            <a:off x="1343025" y="23526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Receive the contract and capture deal context.</a:t>
            </a:r>
          </a:p>
        </p:txBody>
      </p:sp>
      <p:sp>
        <p:nvSpPr>
          <p:cNvPr id="8" name="">
            <a:extLst xmlns:a="http://schemas.openxmlformats.org/drawingml/2006/main">
              <a:ext uri="{FF2B5EF4-FFF2-40B4-BE49-F238E27FC236}">
                <a16:creationId xmlns:a16="http://schemas.microsoft.com/office/drawing/2014/main" id="{BDF32E9D-6D18-4F27-AB73-830BDE215D6A}"/>
              </a:ext>
            </a:extLst>
          </p:cNvPr>
          <p:cNvSpPr>
            <a:spLocks xmlns:a="http://schemas.openxmlformats.org/drawingml/2006/main" noGrp="1"/>
          </p:cNvSpPr>
          <p:nvPr/>
        </p:nvSpPr>
        <p:spPr>
          <a:xfrm xmlns:a="http://schemas.openxmlformats.org/drawingml/2006/main">
            <a:off x="609600" y="28479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719929C-85A2-487F-AB0B-5318A6E459B8}"/>
              </a:ext>
            </a:extLst>
          </p:cNvPr>
          <p:cNvSpPr>
            <a:spLocks xmlns:a="http://schemas.openxmlformats.org/drawingml/2006/main" noGrp="1"/>
          </p:cNvSpPr>
          <p:nvPr/>
        </p:nvSpPr>
        <p:spPr>
          <a:xfrm xmlns:a="http://schemas.openxmlformats.org/drawingml/2006/main">
            <a:off x="1343025" y="28479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Initial Completeness Check</a:t>
            </a:r>
          </a:p>
        </p:txBody>
      </p:sp>
      <p:sp>
        <p:nvSpPr>
          <p:cNvPr id="10" name="">
            <a:extLst xmlns:a="http://schemas.openxmlformats.org/drawingml/2006/main">
              <a:ext uri="{FF2B5EF4-FFF2-40B4-BE49-F238E27FC236}">
                <a16:creationId xmlns:a16="http://schemas.microsoft.com/office/drawing/2014/main" id="{A0169CBF-5123-435C-90B9-9D9B308E9B96}"/>
              </a:ext>
            </a:extLst>
          </p:cNvPr>
          <p:cNvSpPr>
            <a:spLocks xmlns:a="http://schemas.openxmlformats.org/drawingml/2006/main" noGrp="1"/>
          </p:cNvSpPr>
          <p:nvPr/>
        </p:nvSpPr>
        <p:spPr>
          <a:xfrm xmlns:a="http://schemas.openxmlformats.org/drawingml/2006/main">
            <a:off x="1343025" y="33813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Check required documents and follow up gaps.</a:t>
            </a:r>
          </a:p>
        </p:txBody>
      </p:sp>
      <p:sp>
        <p:nvSpPr>
          <p:cNvPr id="11" name="">
            <a:extLst xmlns:a="http://schemas.openxmlformats.org/drawingml/2006/main">
              <a:ext uri="{FF2B5EF4-FFF2-40B4-BE49-F238E27FC236}">
                <a16:creationId xmlns:a16="http://schemas.microsoft.com/office/drawing/2014/main" id="{7A719BB8-2372-4C86-9C09-387C97F2276E}"/>
              </a:ext>
            </a:extLst>
          </p:cNvPr>
          <p:cNvSpPr>
            <a:spLocks xmlns:a="http://schemas.openxmlformats.org/drawingml/2006/main" noGrp="1"/>
          </p:cNvSpPr>
          <p:nvPr/>
        </p:nvSpPr>
        <p:spPr>
          <a:xfrm xmlns:a="http://schemas.openxmlformats.org/drawingml/2006/main">
            <a:off x="609600" y="38766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D896572D-231D-45EE-A25F-860553D4A159}"/>
              </a:ext>
            </a:extLst>
          </p:cNvPr>
          <p:cNvSpPr>
            <a:spLocks xmlns:a="http://schemas.openxmlformats.org/drawingml/2006/main" noGrp="1"/>
          </p:cNvSpPr>
          <p:nvPr/>
        </p:nvSpPr>
        <p:spPr>
          <a:xfrm xmlns:a="http://schemas.openxmlformats.org/drawingml/2006/main">
            <a:off x="1343025" y="38766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Contract &amp; Clause Review</a:t>
            </a:r>
          </a:p>
        </p:txBody>
      </p:sp>
      <p:sp>
        <p:nvSpPr>
          <p:cNvPr id="13" name="">
            <a:extLst xmlns:a="http://schemas.openxmlformats.org/drawingml/2006/main">
              <a:ext uri="{FF2B5EF4-FFF2-40B4-BE49-F238E27FC236}">
                <a16:creationId xmlns:a16="http://schemas.microsoft.com/office/drawing/2014/main" id="{919E55C6-3891-4772-92B8-C1E3019BB4A4}"/>
              </a:ext>
            </a:extLst>
          </p:cNvPr>
          <p:cNvSpPr>
            <a:spLocks xmlns:a="http://schemas.openxmlformats.org/drawingml/2006/main" noGrp="1"/>
          </p:cNvSpPr>
          <p:nvPr/>
        </p:nvSpPr>
        <p:spPr>
          <a:xfrm xmlns:a="http://schemas.openxmlformats.org/drawingml/2006/main">
            <a:off x="1343025" y="44100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Read terms and identify clauses needing review.</a:t>
            </a:r>
          </a:p>
        </p:txBody>
      </p:sp>
      <p:sp>
        <p:nvSpPr>
          <p:cNvPr id="14" name="">
            <a:extLst xmlns:a="http://schemas.openxmlformats.org/drawingml/2006/main">
              <a:ext uri="{FF2B5EF4-FFF2-40B4-BE49-F238E27FC236}">
                <a16:creationId xmlns:a16="http://schemas.microsoft.com/office/drawing/2014/main" id="{A627D01A-09F6-4521-93F4-5829F15A4130}"/>
              </a:ext>
            </a:extLst>
          </p:cNvPr>
          <p:cNvSpPr>
            <a:spLocks xmlns:a="http://schemas.openxmlformats.org/drawingml/2006/main" noGrp="1"/>
          </p:cNvSpPr>
          <p:nvPr/>
        </p:nvSpPr>
        <p:spPr>
          <a:xfrm xmlns:a="http://schemas.openxmlformats.org/drawingml/2006/main">
            <a:off x="609600" y="49053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1D4ED8"/>
                </a:solidFill>
                <a:latin typeface="Arial"/>
                <a:ea typeface="Arial"/>
                <a:cs typeface="Arial"/>
              </a:defRPr>
            </a:defPPr>
          </a:lstStyle>
          <a:p xmlns:a="http://schemas.openxmlformats.org/drawingml/2006/main">
            <a:pPr>
              <a:defRPr sz="2775" b="1">
                <a:solidFill>
                  <a:srgbClr val="1D4ED8"/>
                </a:solidFill>
                <a:latin typeface="Arial"/>
                <a:ea typeface="Arial"/>
                <a:cs typeface="Arial"/>
              </a:defRPr>
            </a:pPr>
            <a:r>
              <a:rPr sz="2775" b="1">
                <a:solidFill>
                  <a:srgbClr val="1D4ED8"/>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B3638566-8571-400D-822E-4A1FD655E25D}"/>
              </a:ext>
            </a:extLst>
          </p:cNvPr>
          <p:cNvSpPr>
            <a:spLocks xmlns:a="http://schemas.openxmlformats.org/drawingml/2006/main" noGrp="1"/>
          </p:cNvSpPr>
          <p:nvPr/>
        </p:nvSpPr>
        <p:spPr>
          <a:xfrm xmlns:a="http://schemas.openxmlformats.org/drawingml/2006/main">
            <a:off x="1343025" y="4905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D4ED8"/>
                </a:solidFill>
                <a:latin typeface="Arial"/>
                <a:ea typeface="Arial"/>
                <a:cs typeface="Arial"/>
              </a:defRPr>
            </a:defPPr>
          </a:lstStyle>
          <a:p xmlns:a="http://schemas.openxmlformats.org/drawingml/2006/main">
            <a:pPr>
              <a:defRPr sz="1875" b="1">
                <a:solidFill>
                  <a:srgbClr val="1D4ED8"/>
                </a:solidFill>
                <a:latin typeface="Arial"/>
                <a:ea typeface="Arial"/>
                <a:cs typeface="Arial"/>
              </a:defRPr>
            </a:pPr>
            <a:r>
              <a:rPr sz="1875" b="1">
                <a:solidFill>
                  <a:srgbClr val="1D4ED8"/>
                </a:solidFill>
                <a:latin typeface="Arial"/>
                <a:ea typeface="Arial"/>
                <a:cs typeface="Arial"/>
              </a:rPr>
              <a:t>Historical Obligation &amp; Conflict Check</a:t>
            </a:r>
          </a:p>
        </p:txBody>
      </p:sp>
      <p:sp>
        <p:nvSpPr>
          <p:cNvPr id="16" name="">
            <a:extLst xmlns:a="http://schemas.openxmlformats.org/drawingml/2006/main">
              <a:ext uri="{FF2B5EF4-FFF2-40B4-BE49-F238E27FC236}">
                <a16:creationId xmlns:a16="http://schemas.microsoft.com/office/drawing/2014/main" id="{AEA26461-D205-4E63-97FF-7EFAF363C94B}"/>
              </a:ext>
            </a:extLst>
          </p:cNvPr>
          <p:cNvSpPr>
            <a:spLocks xmlns:a="http://schemas.openxmlformats.org/drawingml/2006/main" noGrp="1"/>
          </p:cNvSpPr>
          <p:nvPr/>
        </p:nvSpPr>
        <p:spPr>
          <a:xfrm xmlns:a="http://schemas.openxmlformats.org/drawingml/2006/main">
            <a:off x="1343025" y="54387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Compare the new deal with past commitments.</a:t>
            </a:r>
          </a:p>
        </p:txBody>
      </p:sp>
      <p:sp>
        <p:nvSpPr>
          <p:cNvPr id="17" name="">
            <a:extLst xmlns:a="http://schemas.openxmlformats.org/drawingml/2006/main">
              <a:ext uri="{FF2B5EF4-FFF2-40B4-BE49-F238E27FC236}">
                <a16:creationId xmlns:a16="http://schemas.microsoft.com/office/drawing/2014/main" id="{C524D7D6-B687-43A8-96D3-D823C6A33ADE}"/>
              </a:ext>
            </a:extLst>
          </p:cNvPr>
          <p:cNvSpPr>
            <a:spLocks xmlns:a="http://schemas.openxmlformats.org/drawingml/2006/main" noGrp="1"/>
          </p:cNvSpPr>
          <p:nvPr/>
        </p:nvSpPr>
        <p:spPr>
          <a:xfrm xmlns:a="http://schemas.openxmlformats.org/drawingml/2006/main">
            <a:off x="6429375" y="18192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CE8627E0-1619-4AAB-A68C-CF73812E1FCB}"/>
              </a:ext>
            </a:extLst>
          </p:cNvPr>
          <p:cNvSpPr>
            <a:spLocks xmlns:a="http://schemas.openxmlformats.org/drawingml/2006/main" noGrp="1"/>
          </p:cNvSpPr>
          <p:nvPr/>
        </p:nvSpPr>
        <p:spPr>
          <a:xfrm xmlns:a="http://schemas.openxmlformats.org/drawingml/2006/main">
            <a:off x="7162800" y="18192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Risk Assessment &amp; Prioritisation</a:t>
            </a:r>
          </a:p>
        </p:txBody>
      </p:sp>
      <p:sp>
        <p:nvSpPr>
          <p:cNvPr id="19" name="">
            <a:extLst xmlns:a="http://schemas.openxmlformats.org/drawingml/2006/main">
              <a:ext uri="{FF2B5EF4-FFF2-40B4-BE49-F238E27FC236}">
                <a16:creationId xmlns:a16="http://schemas.microsoft.com/office/drawing/2014/main" id="{7449D3CC-63DD-4AB5-9417-5B4356D574AB}"/>
              </a:ext>
            </a:extLst>
          </p:cNvPr>
          <p:cNvSpPr>
            <a:spLocks xmlns:a="http://schemas.openxmlformats.org/drawingml/2006/main" noGrp="1"/>
          </p:cNvSpPr>
          <p:nvPr/>
        </p:nvSpPr>
        <p:spPr>
          <a:xfrm xmlns:a="http://schemas.openxmlformats.org/drawingml/2006/main">
            <a:off x="7162800" y="23526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Judge which issues need attention or escalation.</a:t>
            </a:r>
          </a:p>
        </p:txBody>
      </p:sp>
      <p:sp>
        <p:nvSpPr>
          <p:cNvPr id="20" name="">
            <a:extLst xmlns:a="http://schemas.openxmlformats.org/drawingml/2006/main">
              <a:ext uri="{FF2B5EF4-FFF2-40B4-BE49-F238E27FC236}">
                <a16:creationId xmlns:a16="http://schemas.microsoft.com/office/drawing/2014/main" id="{A8BB5DA1-A676-4F88-8C93-6FA3D4524365}"/>
              </a:ext>
            </a:extLst>
          </p:cNvPr>
          <p:cNvSpPr>
            <a:spLocks xmlns:a="http://schemas.openxmlformats.org/drawingml/2006/main" noGrp="1"/>
          </p:cNvSpPr>
          <p:nvPr/>
        </p:nvSpPr>
        <p:spPr>
          <a:xfrm xmlns:a="http://schemas.openxmlformats.org/drawingml/2006/main">
            <a:off x="6429375" y="28479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DB89A61C-9DD2-4692-9D8D-774988A69C6C}"/>
              </a:ext>
            </a:extLst>
          </p:cNvPr>
          <p:cNvSpPr>
            <a:spLocks xmlns:a="http://schemas.openxmlformats.org/drawingml/2006/main" noGrp="1"/>
          </p:cNvSpPr>
          <p:nvPr/>
        </p:nvSpPr>
        <p:spPr>
          <a:xfrm xmlns:a="http://schemas.openxmlformats.org/drawingml/2006/main">
            <a:off x="7162800" y="28479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Negotiation / Revision</a:t>
            </a:r>
          </a:p>
        </p:txBody>
      </p:sp>
      <p:sp>
        <p:nvSpPr>
          <p:cNvPr id="22" name="">
            <a:extLst xmlns:a="http://schemas.openxmlformats.org/drawingml/2006/main">
              <a:ext uri="{FF2B5EF4-FFF2-40B4-BE49-F238E27FC236}">
                <a16:creationId xmlns:a16="http://schemas.microsoft.com/office/drawing/2014/main" id="{5650313E-20E5-4413-BA95-C6790819068B}"/>
              </a:ext>
            </a:extLst>
          </p:cNvPr>
          <p:cNvSpPr>
            <a:spLocks xmlns:a="http://schemas.openxmlformats.org/drawingml/2006/main" noGrp="1"/>
          </p:cNvSpPr>
          <p:nvPr/>
        </p:nvSpPr>
        <p:spPr>
          <a:xfrm xmlns:a="http://schemas.openxmlformats.org/drawingml/2006/main">
            <a:off x="7162800" y="33813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Discuss changes and review revised terms.</a:t>
            </a:r>
          </a:p>
        </p:txBody>
      </p:sp>
      <p:sp>
        <p:nvSpPr>
          <p:cNvPr id="23" name="">
            <a:extLst xmlns:a="http://schemas.openxmlformats.org/drawingml/2006/main">
              <a:ext uri="{FF2B5EF4-FFF2-40B4-BE49-F238E27FC236}">
                <a16:creationId xmlns:a16="http://schemas.microsoft.com/office/drawing/2014/main" id="{CCDAC596-F36D-4A3F-991B-33906E35F664}"/>
              </a:ext>
            </a:extLst>
          </p:cNvPr>
          <p:cNvSpPr>
            <a:spLocks xmlns:a="http://schemas.openxmlformats.org/drawingml/2006/main" noGrp="1"/>
          </p:cNvSpPr>
          <p:nvPr/>
        </p:nvSpPr>
        <p:spPr>
          <a:xfrm xmlns:a="http://schemas.openxmlformats.org/drawingml/2006/main">
            <a:off x="6429375" y="38766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07</a:t>
            </a:r>
          </a:p>
        </p:txBody>
      </p:sp>
      <p:sp>
        <p:nvSpPr>
          <p:cNvPr id="24" name="">
            <a:extLst xmlns:a="http://schemas.openxmlformats.org/drawingml/2006/main">
              <a:ext uri="{FF2B5EF4-FFF2-40B4-BE49-F238E27FC236}">
                <a16:creationId xmlns:a16="http://schemas.microsoft.com/office/drawing/2014/main" id="{6E3E724B-EA87-48D4-8CBB-9DB4EA26D536}"/>
              </a:ext>
            </a:extLst>
          </p:cNvPr>
          <p:cNvSpPr>
            <a:spLocks xmlns:a="http://schemas.openxmlformats.org/drawingml/2006/main" noGrp="1"/>
          </p:cNvSpPr>
          <p:nvPr/>
        </p:nvSpPr>
        <p:spPr>
          <a:xfrm xmlns:a="http://schemas.openxmlformats.org/drawingml/2006/main">
            <a:off x="7162800" y="38766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Final Review &amp; Decision</a:t>
            </a:r>
          </a:p>
        </p:txBody>
      </p:sp>
      <p:sp>
        <p:nvSpPr>
          <p:cNvPr id="25" name="">
            <a:extLst xmlns:a="http://schemas.openxmlformats.org/drawingml/2006/main">
              <a:ext uri="{FF2B5EF4-FFF2-40B4-BE49-F238E27FC236}">
                <a16:creationId xmlns:a16="http://schemas.microsoft.com/office/drawing/2014/main" id="{36B48517-2F4C-496F-8F19-0240734693B6}"/>
              </a:ext>
            </a:extLst>
          </p:cNvPr>
          <p:cNvSpPr>
            <a:spLocks xmlns:a="http://schemas.openxmlformats.org/drawingml/2006/main" noGrp="1"/>
          </p:cNvSpPr>
          <p:nvPr/>
        </p:nvSpPr>
        <p:spPr>
          <a:xfrm xmlns:a="http://schemas.openxmlformats.org/drawingml/2006/main">
            <a:off x="7162800" y="44100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Human reviewer decides how the deal proceeds.</a:t>
            </a:r>
          </a:p>
        </p:txBody>
      </p:sp>
      <p:sp>
        <p:nvSpPr>
          <p:cNvPr id="26" name="">
            <a:extLst xmlns:a="http://schemas.openxmlformats.org/drawingml/2006/main">
              <a:ext uri="{FF2B5EF4-FFF2-40B4-BE49-F238E27FC236}">
                <a16:creationId xmlns:a16="http://schemas.microsoft.com/office/drawing/2014/main" id="{649DA23B-547A-4D1F-B27D-712BFF239E7A}"/>
              </a:ext>
            </a:extLst>
          </p:cNvPr>
          <p:cNvSpPr>
            <a:spLocks xmlns:a="http://schemas.openxmlformats.org/drawingml/2006/main" noGrp="1"/>
          </p:cNvSpPr>
          <p:nvPr/>
        </p:nvSpPr>
        <p:spPr>
          <a:xfrm xmlns:a="http://schemas.openxmlformats.org/drawingml/2006/main">
            <a:off x="6429375" y="4905375"/>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8491A8"/>
                </a:solidFill>
                <a:latin typeface="Arial"/>
                <a:ea typeface="Arial"/>
                <a:cs typeface="Arial"/>
              </a:defRPr>
            </a:defPPr>
          </a:lstStyle>
          <a:p xmlns:a="http://schemas.openxmlformats.org/drawingml/2006/main">
            <a:pPr>
              <a:defRPr sz="2775" b="1">
                <a:solidFill>
                  <a:srgbClr val="8491A8"/>
                </a:solidFill>
                <a:latin typeface="Arial"/>
                <a:ea typeface="Arial"/>
                <a:cs typeface="Arial"/>
              </a:defRPr>
            </a:pPr>
            <a:r>
              <a:rPr sz="2775" b="1">
                <a:solidFill>
                  <a:srgbClr val="8491A8"/>
                </a:solidFill>
                <a:latin typeface="Arial"/>
                <a:ea typeface="Arial"/>
                <a:cs typeface="Arial"/>
              </a:rPr>
              <a:t>08</a:t>
            </a:r>
          </a:p>
        </p:txBody>
      </p:sp>
      <p:sp>
        <p:nvSpPr>
          <p:cNvPr id="27" name="">
            <a:extLst xmlns:a="http://schemas.openxmlformats.org/drawingml/2006/main">
              <a:ext uri="{FF2B5EF4-FFF2-40B4-BE49-F238E27FC236}">
                <a16:creationId xmlns:a16="http://schemas.microsoft.com/office/drawing/2014/main" id="{A4F83649-29C6-44D3-8B32-B5A6D0019CE0}"/>
              </a:ext>
            </a:extLst>
          </p:cNvPr>
          <p:cNvSpPr>
            <a:spLocks xmlns:a="http://schemas.openxmlformats.org/drawingml/2006/main" noGrp="1"/>
          </p:cNvSpPr>
          <p:nvPr/>
        </p:nvSpPr>
        <p:spPr>
          <a:xfrm xmlns:a="http://schemas.openxmlformats.org/drawingml/2006/main">
            <a:off x="7162800" y="4905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1733"/>
                </a:solidFill>
                <a:latin typeface="Arial"/>
                <a:ea typeface="Arial"/>
                <a:cs typeface="Arial"/>
              </a:defRPr>
            </a:defPPr>
          </a:lstStyle>
          <a:p xmlns:a="http://schemas.openxmlformats.org/drawingml/2006/main">
            <a:pPr>
              <a:defRPr sz="1875" b="1">
                <a:solidFill>
                  <a:srgbClr val="0B1733"/>
                </a:solidFill>
                <a:latin typeface="Arial"/>
                <a:ea typeface="Arial"/>
                <a:cs typeface="Arial"/>
              </a:defRPr>
            </a:pPr>
            <a:r>
              <a:rPr sz="1875" b="1">
                <a:solidFill>
                  <a:srgbClr val="0B1733"/>
                </a:solidFill>
                <a:latin typeface="Arial"/>
                <a:ea typeface="Arial"/>
                <a:cs typeface="Arial"/>
              </a:rPr>
              <a:t>Capture Signed Obligations</a:t>
            </a:r>
          </a:p>
        </p:txBody>
      </p:sp>
      <p:sp>
        <p:nvSpPr>
          <p:cNvPr id="28" name="">
            <a:extLst xmlns:a="http://schemas.openxmlformats.org/drawingml/2006/main">
              <a:ext uri="{FF2B5EF4-FFF2-40B4-BE49-F238E27FC236}">
                <a16:creationId xmlns:a16="http://schemas.microsoft.com/office/drawing/2014/main" id="{A1E9E3F8-D052-4F4C-A48E-9705ABD8319F}"/>
              </a:ext>
            </a:extLst>
          </p:cNvPr>
          <p:cNvSpPr>
            <a:spLocks xmlns:a="http://schemas.openxmlformats.org/drawingml/2006/main" noGrp="1"/>
          </p:cNvSpPr>
          <p:nvPr/>
        </p:nvSpPr>
        <p:spPr>
          <a:xfrm xmlns:a="http://schemas.openxmlformats.org/drawingml/2006/main">
            <a:off x="7162800" y="5438775"/>
            <a:ext cx="464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079"/>
                </a:solidFill>
                <a:latin typeface="Arial"/>
                <a:ea typeface="Arial"/>
                <a:cs typeface="Arial"/>
              </a:defRPr>
            </a:defPPr>
          </a:lstStyle>
          <a:p xmlns:a="http://schemas.openxmlformats.org/drawingml/2006/main">
            <a:pPr>
              <a:defRPr sz="1575" b="0">
                <a:solidFill>
                  <a:srgbClr val="526079"/>
                </a:solidFill>
                <a:latin typeface="Arial"/>
                <a:ea typeface="Arial"/>
                <a:cs typeface="Arial"/>
              </a:defRPr>
            </a:pPr>
            <a:r>
              <a:rPr sz="1575" b="0">
                <a:solidFill>
                  <a:srgbClr val="526079"/>
                </a:solidFill>
                <a:latin typeface="Arial"/>
                <a:ea typeface="Arial"/>
                <a:cs typeface="Arial"/>
              </a:rPr>
              <a:t>Store the agreement and record commitments.</a:t>
            </a:r>
          </a:p>
        </p:txBody>
      </p:sp>
      <p:sp>
        <p:nvSpPr>
          <p:cNvPr id="29" name="">
            <a:extLst xmlns:a="http://schemas.openxmlformats.org/drawingml/2006/main">
              <a:ext uri="{FF2B5EF4-FFF2-40B4-BE49-F238E27FC236}">
                <a16:creationId xmlns:a16="http://schemas.microsoft.com/office/drawing/2014/main" id="{FE56F9EC-3B2D-405E-912A-E97D8F3BA981}"/>
              </a:ext>
            </a:extLst>
          </p:cNvPr>
          <p:cNvSpPr>
            <a:spLocks xmlns:a="http://schemas.openxmlformats.org/drawingml/2006/main" noGrp="1"/>
          </p:cNvSpPr>
          <p:nvPr/>
        </p:nvSpPr>
        <p:spPr>
          <a:xfrm xmlns:a="http://schemas.openxmlformats.org/drawingml/2006/main">
            <a:off x="609600" y="6076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D4ED8"/>
                </a:solidFill>
                <a:latin typeface="Arial"/>
                <a:ea typeface="Arial"/>
                <a:cs typeface="Arial"/>
              </a:defRPr>
            </a:defPPr>
          </a:lstStyle>
          <a:p xmlns:a="http://schemas.openxmlformats.org/drawingml/2006/main">
            <a:pPr>
              <a:defRPr sz="1500" b="1">
                <a:solidFill>
                  <a:srgbClr val="1D4ED8"/>
                </a:solidFill>
                <a:latin typeface="Arial"/>
                <a:ea typeface="Arial"/>
                <a:cs typeface="Arial"/>
              </a:defRPr>
            </a:pPr>
            <a:r>
              <a:rPr sz="1500" b="1">
                <a:solidFill>
                  <a:srgbClr val="1D4ED8"/>
                </a:solidFill>
                <a:latin typeface="Arial"/>
                <a:ea typeface="Arial"/>
                <a:cs typeface="Arial"/>
              </a:rPr>
              <a:t>SELECTED AI FOCUS: STEP 4</a:t>
            </a:r>
          </a:p>
        </p:txBody>
      </p:sp>
    </p:spTree>
    <p:extLst>
      <p:ext uri="{BB962C8B-B14F-4D97-AF65-F5344CB8AC3E}">
        <p14:creationId xmlns:p14="http://schemas.microsoft.com/office/powerpoint/2010/main" val="1040900775"/>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388C5A-F07D-4186-8C5B-E513CC77AA16}"/>
              </a:ext>
            </a:extLst>
          </p:cNvPr>
          <p:cNvSpPr>
            <a:spLocks xmlns:a="http://schemas.openxmlformats.org/drawingml/2006/main" noGrp="1"/>
          </p:cNvSpPr>
          <p:nvPr/>
        </p:nvSpPr>
        <p:spPr>
          <a:xfrm xmlns:a="http://schemas.openxmlformats.org/drawingml/2006/main">
            <a:off x="609600" y="2286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D4ED8"/>
                </a:solidFill>
                <a:latin typeface="Arial"/>
                <a:ea typeface="Arial"/>
                <a:cs typeface="Arial"/>
              </a:defRPr>
            </a:defPPr>
          </a:lstStyle>
          <a:p xmlns:a="http://schemas.openxmlformats.org/drawingml/2006/main">
            <a:pPr>
              <a:defRPr sz="1125" b="1">
                <a:solidFill>
                  <a:srgbClr val="1D4ED8"/>
                </a:solidFill>
                <a:latin typeface="Arial"/>
                <a:ea typeface="Arial"/>
                <a:cs typeface="Arial"/>
              </a:defRPr>
            </a:pPr>
            <a:r>
              <a:rPr sz="1125" b="1">
                <a:solidFill>
                  <a:srgbClr val="1D4ED8"/>
                </a:solidFill>
                <a:latin typeface="Arial"/>
                <a:ea typeface="Arial"/>
                <a:cs typeface="Arial"/>
              </a:rPr>
              <a:t>02 / OPPORTUNITY CHOICE</a:t>
            </a:r>
          </a:p>
        </p:txBody>
      </p:sp>
      <p:sp>
        <p:nvSpPr>
          <p:cNvPr id="2" name="">
            <a:extLst xmlns:a="http://schemas.openxmlformats.org/drawingml/2006/main">
              <a:ext uri="{FF2B5EF4-FFF2-40B4-BE49-F238E27FC236}">
                <a16:creationId xmlns:a16="http://schemas.microsoft.com/office/drawing/2014/main" id="{D5F6A366-CF6B-4CEB-ABAA-ABB8E62B0220}"/>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1733"/>
                </a:solidFill>
                <a:latin typeface="Arial"/>
                <a:ea typeface="Arial"/>
                <a:cs typeface="Arial"/>
              </a:defRPr>
            </a:defPPr>
          </a:lstStyle>
          <a:p xmlns:a="http://schemas.openxmlformats.org/drawingml/2006/main">
            <a:pPr>
              <a:defRPr sz="3300" b="1">
                <a:solidFill>
                  <a:srgbClr val="0B1733"/>
                </a:solidFill>
                <a:latin typeface="Arial"/>
                <a:ea typeface="Arial"/>
                <a:cs typeface="Arial"/>
              </a:defRPr>
            </a:pPr>
            <a:r>
              <a:rPr sz="3300" b="1">
                <a:solidFill>
                  <a:srgbClr val="0B1733"/>
                </a:solidFill>
                <a:latin typeface="Arial"/>
                <a:ea typeface="Arial"/>
                <a:cs typeface="Arial"/>
              </a:rPr>
              <a:t>Why Step 4 is the right first AI focus</a:t>
            </a:r>
          </a:p>
        </p:txBody>
      </p:sp>
      <p:sp>
        <p:nvSpPr>
          <p:cNvPr id="3" name="">
            <a:extLst xmlns:a="http://schemas.openxmlformats.org/drawingml/2006/main">
              <a:ext uri="{FF2B5EF4-FFF2-40B4-BE49-F238E27FC236}">
                <a16:creationId xmlns:a16="http://schemas.microsoft.com/office/drawing/2014/main" id="{646807E3-7290-4139-9699-0E991C065ADD}"/>
              </a:ext>
            </a:extLst>
          </p:cNvPr>
          <p:cNvSpPr>
            <a:spLocks xmlns:a="http://schemas.openxmlformats.org/drawingml/2006/main" noGrp="1"/>
          </p:cNvSpPr>
          <p:nvPr/>
        </p:nvSpPr>
        <p:spPr>
          <a:xfrm xmlns:a="http://schemas.openxmlformats.org/drawingml/2006/main">
            <a:off x="609600" y="648652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079"/>
                </a:solidFill>
                <a:latin typeface="Arial"/>
                <a:ea typeface="Arial"/>
                <a:cs typeface="Arial"/>
              </a:defRPr>
            </a:defPPr>
          </a:lstStyle>
          <a:p xmlns:a="http://schemas.openxmlformats.org/drawingml/2006/main">
            <a:pPr>
              <a:defRPr sz="975" b="0">
                <a:solidFill>
                  <a:srgbClr val="526079"/>
                </a:solidFill>
                <a:latin typeface="Arial"/>
                <a:ea typeface="Arial"/>
                <a:cs typeface="Arial"/>
              </a:defRPr>
            </a:pPr>
            <a:r>
              <a:rPr sz="975" b="0">
                <a:solidFill>
                  <a:srgbClr val="526079"/>
                </a:solidFill>
                <a:latin typeface="Arial"/>
                <a:ea typeface="Arial"/>
                <a:cs typeface="Arial"/>
              </a:rPr>
              <a:t>ATLIQ  /  DISCOVERY → AI OPPORTUNITY</a:t>
            </a:r>
          </a:p>
        </p:txBody>
      </p:sp>
      <p:sp>
        <p:nvSpPr>
          <p:cNvPr id="4" name="">
            <a:extLst xmlns:a="http://schemas.openxmlformats.org/drawingml/2006/main">
              <a:ext uri="{FF2B5EF4-FFF2-40B4-BE49-F238E27FC236}">
                <a16:creationId xmlns:a16="http://schemas.microsoft.com/office/drawing/2014/main" id="{30B6222E-AC63-4407-AC05-514A67554795}"/>
              </a:ext>
            </a:extLst>
          </p:cNvPr>
          <p:cNvSpPr>
            <a:spLocks xmlns:a="http://schemas.openxmlformats.org/drawingml/2006/main" noGrp="1"/>
          </p:cNvSpPr>
          <p:nvPr/>
        </p:nvSpPr>
        <p:spPr>
          <a:xfrm xmlns:a="http://schemas.openxmlformats.org/drawingml/2006/main">
            <a:off x="11182350" y="64389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9"/>
                </a:solidFill>
                <a:latin typeface="Arial"/>
                <a:ea typeface="Arial"/>
                <a:cs typeface="Arial"/>
              </a:defRPr>
            </a:defPPr>
          </a:lstStyle>
          <a:p xmlns:a="http://schemas.openxmlformats.org/drawingml/2006/main">
            <a:pPr>
              <a:defRPr sz="1350" b="0">
                <a:solidFill>
                  <a:srgbClr val="526079"/>
                </a:solidFill>
                <a:latin typeface="Arial"/>
                <a:ea typeface="Arial"/>
                <a:cs typeface="Arial"/>
              </a:defRPr>
            </a:pPr>
            <a:r>
              <a:rPr sz="1350" b="0">
                <a:solidFill>
                  <a:srgbClr val="526079"/>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AAF7C47-93A1-4D20-910E-58C3830D489C}"/>
              </a:ext>
            </a:extLst>
          </p:cNvPr>
          <p:cNvSpPr>
            <a:spLocks xmlns:a="http://schemas.openxmlformats.org/drawingml/2006/main" noGrp="1"/>
          </p:cNvSpPr>
          <p:nvPr/>
        </p:nvSpPr>
        <p:spPr>
          <a:xfrm xmlns:a="http://schemas.openxmlformats.org/drawingml/2006/main">
            <a:off x="609600" y="185737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8491A8"/>
                </a:solidFill>
                <a:latin typeface="Arial"/>
                <a:ea typeface="Arial"/>
                <a:cs typeface="Arial"/>
              </a:defRPr>
            </a:defPPr>
          </a:lstStyle>
          <a:p xmlns:a="http://schemas.openxmlformats.org/drawingml/2006/main">
            <a:pPr>
              <a:defRPr sz="5100" b="1">
                <a:solidFill>
                  <a:srgbClr val="8491A8"/>
                </a:solidFill>
                <a:latin typeface="Arial"/>
                <a:ea typeface="Arial"/>
                <a:cs typeface="Arial"/>
              </a:defRPr>
            </a:pPr>
            <a:r>
              <a:rPr sz="5100" b="1">
                <a:solidFill>
                  <a:srgbClr val="8491A8"/>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C25C35E-069E-4571-840A-2DFAC8A910A1}"/>
              </a:ext>
            </a:extLst>
          </p:cNvPr>
          <p:cNvSpPr>
            <a:spLocks xmlns:a="http://schemas.openxmlformats.org/drawingml/2006/main" noGrp="1"/>
          </p:cNvSpPr>
          <p:nvPr/>
        </p:nvSpPr>
        <p:spPr>
          <a:xfrm xmlns:a="http://schemas.openxmlformats.org/drawingml/2006/main">
            <a:off x="2181225" y="1924050"/>
            <a:ext cx="923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1733"/>
                </a:solidFill>
                <a:latin typeface="Arial"/>
                <a:ea typeface="Arial"/>
                <a:cs typeface="Arial"/>
              </a:defRPr>
            </a:defPPr>
          </a:lstStyle>
          <a:p xmlns:a="http://schemas.openxmlformats.org/drawingml/2006/main">
            <a:pPr>
              <a:defRPr sz="2325" b="1">
                <a:solidFill>
                  <a:srgbClr val="0B1733"/>
                </a:solidFill>
                <a:latin typeface="Arial"/>
                <a:ea typeface="Arial"/>
                <a:cs typeface="Arial"/>
              </a:defRPr>
            </a:pPr>
            <a:r>
              <a:rPr sz="2325" b="1">
                <a:solidFill>
                  <a:srgbClr val="0B1733"/>
                </a:solidFill>
                <a:latin typeface="Arial"/>
                <a:ea typeface="Arial"/>
                <a:cs typeface="Arial"/>
              </a:rPr>
              <a:t>Understand the incoming contract</a:t>
            </a:r>
          </a:p>
        </p:txBody>
      </p:sp>
      <p:sp>
        <p:nvSpPr>
          <p:cNvPr id="7" name="">
            <a:extLst xmlns:a="http://schemas.openxmlformats.org/drawingml/2006/main">
              <a:ext uri="{FF2B5EF4-FFF2-40B4-BE49-F238E27FC236}">
                <a16:creationId xmlns:a16="http://schemas.microsoft.com/office/drawing/2014/main" id="{A4C229BA-E562-4AB0-8CAA-20DC7EAA9089}"/>
              </a:ext>
            </a:extLst>
          </p:cNvPr>
          <p:cNvSpPr>
            <a:spLocks xmlns:a="http://schemas.openxmlformats.org/drawingml/2006/main" noGrp="1"/>
          </p:cNvSpPr>
          <p:nvPr/>
        </p:nvSpPr>
        <p:spPr>
          <a:xfrm xmlns:a="http://schemas.openxmlformats.org/drawingml/2006/main">
            <a:off x="2181225" y="2524125"/>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079"/>
                </a:solidFill>
                <a:latin typeface="Arial"/>
                <a:ea typeface="Arial"/>
                <a:cs typeface="Arial"/>
              </a:defRPr>
            </a:defPPr>
          </a:lstStyle>
          <a:p xmlns:a="http://schemas.openxmlformats.org/drawingml/2006/main">
            <a:pPr>
              <a:defRPr sz="1950" b="0">
                <a:solidFill>
                  <a:srgbClr val="526079"/>
                </a:solidFill>
                <a:latin typeface="Arial"/>
                <a:ea typeface="Arial"/>
                <a:cs typeface="Arial"/>
              </a:defRPr>
            </a:pPr>
            <a:r>
              <a:rPr sz="1950" b="0">
                <a:solidFill>
                  <a:srgbClr val="526079"/>
                </a:solidFill>
                <a:latin typeface="Arial"/>
                <a:ea typeface="Arial"/>
                <a:cs typeface="Arial"/>
              </a:rPr>
              <a:t>Clause review identifies terms within the new document.</a:t>
            </a:r>
          </a:p>
        </p:txBody>
      </p:sp>
      <p:sp>
        <p:nvSpPr>
          <p:cNvPr id="8" name="">
            <a:extLst xmlns:a="http://schemas.openxmlformats.org/drawingml/2006/main">
              <a:ext uri="{FF2B5EF4-FFF2-40B4-BE49-F238E27FC236}">
                <a16:creationId xmlns:a16="http://schemas.microsoft.com/office/drawing/2014/main" id="{62FED99E-B5F8-43FE-8968-5F4E7C183154}"/>
              </a:ext>
            </a:extLst>
          </p:cNvPr>
          <p:cNvSpPr>
            <a:spLocks xmlns:a="http://schemas.openxmlformats.org/drawingml/2006/main" noGrp="1"/>
          </p:cNvSpPr>
          <p:nvPr/>
        </p:nvSpPr>
        <p:spPr>
          <a:xfrm xmlns:a="http://schemas.openxmlformats.org/drawingml/2006/main">
            <a:off x="609600" y="3495675"/>
            <a:ext cx="1428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D4ED8"/>
                </a:solidFill>
                <a:latin typeface="Arial"/>
                <a:ea typeface="Arial"/>
                <a:cs typeface="Arial"/>
              </a:defRPr>
            </a:defPPr>
          </a:lstStyle>
          <a:p xmlns:a="http://schemas.openxmlformats.org/drawingml/2006/main">
            <a:pPr>
              <a:defRPr sz="5100" b="1">
                <a:solidFill>
                  <a:srgbClr val="1D4ED8"/>
                </a:solidFill>
                <a:latin typeface="Arial"/>
                <a:ea typeface="Arial"/>
                <a:cs typeface="Arial"/>
              </a:defRPr>
            </a:pPr>
            <a:r>
              <a:rPr sz="5100" b="1">
                <a:solidFill>
                  <a:srgbClr val="1D4ED8"/>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D1F0614E-5583-4DF8-8B35-EDA26B371E61}"/>
              </a:ext>
            </a:extLst>
          </p:cNvPr>
          <p:cNvSpPr>
            <a:spLocks xmlns:a="http://schemas.openxmlformats.org/drawingml/2006/main" noGrp="1"/>
          </p:cNvSpPr>
          <p:nvPr/>
        </p:nvSpPr>
        <p:spPr>
          <a:xfrm xmlns:a="http://schemas.openxmlformats.org/drawingml/2006/main">
            <a:off x="2181225" y="35623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D4ED8"/>
                </a:solidFill>
                <a:latin typeface="Arial"/>
                <a:ea typeface="Arial"/>
                <a:cs typeface="Arial"/>
              </a:defRPr>
            </a:defPPr>
          </a:lstStyle>
          <a:p xmlns:a="http://schemas.openxmlformats.org/drawingml/2006/main">
            <a:pPr>
              <a:defRPr sz="2475" b="1">
                <a:solidFill>
                  <a:srgbClr val="1D4ED8"/>
                </a:solidFill>
                <a:latin typeface="Arial"/>
                <a:ea typeface="Arial"/>
                <a:cs typeface="Arial"/>
              </a:defRPr>
            </a:pPr>
            <a:r>
              <a:rPr sz="2475" b="1">
                <a:solidFill>
                  <a:srgbClr val="1D4ED8"/>
                </a:solidFill>
                <a:latin typeface="Arial"/>
                <a:ea typeface="Arial"/>
                <a:cs typeface="Arial"/>
              </a:rPr>
              <a:t>Connect the new deal to past promises</a:t>
            </a:r>
          </a:p>
        </p:txBody>
      </p:sp>
      <p:sp>
        <p:nvSpPr>
          <p:cNvPr id="10" name="">
            <a:extLst xmlns:a="http://schemas.openxmlformats.org/drawingml/2006/main">
              <a:ext uri="{FF2B5EF4-FFF2-40B4-BE49-F238E27FC236}">
                <a16:creationId xmlns:a16="http://schemas.microsoft.com/office/drawing/2014/main" id="{5E2BDC50-0ECB-47ED-AC7A-2CE04252C597}"/>
              </a:ext>
            </a:extLst>
          </p:cNvPr>
          <p:cNvSpPr>
            <a:spLocks xmlns:a="http://schemas.openxmlformats.org/drawingml/2006/main" noGrp="1"/>
          </p:cNvSpPr>
          <p:nvPr/>
        </p:nvSpPr>
        <p:spPr>
          <a:xfrm xmlns:a="http://schemas.openxmlformats.org/drawingml/2006/main">
            <a:off x="2181225" y="4219575"/>
            <a:ext cx="9144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0B1733"/>
                </a:solidFill>
                <a:latin typeface="Arial"/>
                <a:ea typeface="Arial"/>
                <a:cs typeface="Arial"/>
              </a:defRPr>
            </a:defPPr>
          </a:lstStyle>
          <a:p xmlns:a="http://schemas.openxmlformats.org/drawingml/2006/main">
            <a:pPr>
              <a:defRPr sz="2100" b="0">
                <a:solidFill>
                  <a:srgbClr val="0B1733"/>
                </a:solidFill>
                <a:latin typeface="Arial"/>
                <a:ea typeface="Arial"/>
                <a:cs typeface="Arial"/>
              </a:defRPr>
            </a:pPr>
            <a:r>
              <a:rPr sz="2100" b="0">
                <a:solidFill>
                  <a:srgbClr val="0B1733"/>
                </a:solidFill>
                <a:latin typeface="Arial"/>
                <a:ea typeface="Arial"/>
                <a:cs typeface="Arial"/>
              </a:rPr>
              <a:t>Historical review asks whether AtliQ has already agreed</a:t>
            </a:r>
          </a:p>
          <a:p xmlns:a="http://schemas.openxmlformats.org/drawingml/2006/main">
            <a:pPr>
              <a:defRPr sz="2100" b="0">
                <a:solidFill>
                  <a:srgbClr val="0B1733"/>
                </a:solidFill>
                <a:latin typeface="Arial"/>
                <a:ea typeface="Arial"/>
                <a:cs typeface="Arial"/>
              </a:defRPr>
            </a:pPr>
            <a:r>
              <a:rPr sz="2100" b="0">
                <a:solidFill>
                  <a:srgbClr val="0B1733"/>
                </a:solidFill>
                <a:latin typeface="Arial"/>
                <a:ea typeface="Arial"/>
                <a:cs typeface="Arial"/>
              </a:rPr>
              <a:t>to a restriction that affects this deal.</a:t>
            </a:r>
          </a:p>
        </p:txBody>
      </p:sp>
      <p:sp>
        <p:nvSpPr>
          <p:cNvPr id="11" name="">
            <a:extLst xmlns:a="http://schemas.openxmlformats.org/drawingml/2006/main">
              <a:ext uri="{FF2B5EF4-FFF2-40B4-BE49-F238E27FC236}">
                <a16:creationId xmlns:a16="http://schemas.microsoft.com/office/drawing/2014/main" id="{1FC1363B-74B8-486B-B465-F975A5168851}"/>
              </a:ext>
            </a:extLst>
          </p:cNvPr>
          <p:cNvSpPr>
            <a:spLocks xmlns:a="http://schemas.openxmlformats.org/drawingml/2006/main" noGrp="1"/>
          </p:cNvSpPr>
          <p:nvPr/>
        </p:nvSpPr>
        <p:spPr>
          <a:xfrm xmlns:a="http://schemas.openxmlformats.org/drawingml/2006/main">
            <a:off x="609600" y="5457825"/>
            <a:ext cx="1090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1733"/>
                </a:solidFill>
                <a:latin typeface="Arial"/>
                <a:ea typeface="Arial"/>
                <a:cs typeface="Arial"/>
              </a:defRPr>
            </a:defPPr>
          </a:lstStyle>
          <a:p xmlns:a="http://schemas.openxmlformats.org/drawingml/2006/main">
            <a:pPr>
              <a:defRPr sz="2400" b="1">
                <a:solidFill>
                  <a:srgbClr val="0B1733"/>
                </a:solidFill>
                <a:latin typeface="Arial"/>
                <a:ea typeface="Arial"/>
                <a:cs typeface="Arial"/>
              </a:defRPr>
            </a:pPr>
            <a:r>
              <a:rPr sz="2400" b="1">
                <a:solidFill>
                  <a:srgbClr val="0B1733"/>
                </a:solidFill>
                <a:latin typeface="Arial"/>
                <a:ea typeface="Arial"/>
                <a:cs typeface="Arial"/>
              </a:rPr>
              <a:t>Best fit to the root cause: make institutional knowledge usable during review.</a:t>
            </a:r>
          </a:p>
        </p:txBody>
      </p:sp>
    </p:spTree>
    <p:extLst>
      <p:ext uri="{BB962C8B-B14F-4D97-AF65-F5344CB8AC3E}">
        <p14:creationId xmlns:p14="http://schemas.microsoft.com/office/powerpoint/2010/main" val="1763549117"/>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B37220E-5E3B-4A94-B2E0-5095037A476C}"/>
              </a:ext>
            </a:extLst>
          </p:cNvPr>
          <p:cNvSpPr>
            <a:spLocks xmlns:a="http://schemas.openxmlformats.org/drawingml/2006/main" noGrp="1"/>
          </p:cNvSpPr>
          <p:nvPr/>
        </p:nvSpPr>
        <p:spPr>
          <a:xfrm xmlns:a="http://schemas.openxmlformats.org/drawingml/2006/main">
            <a:off x="609600" y="2286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D4ED8"/>
                </a:solidFill>
                <a:latin typeface="Arial"/>
                <a:ea typeface="Arial"/>
                <a:cs typeface="Arial"/>
              </a:defRPr>
            </a:defPPr>
          </a:lstStyle>
          <a:p xmlns:a="http://schemas.openxmlformats.org/drawingml/2006/main">
            <a:pPr>
              <a:defRPr sz="1125" b="1">
                <a:solidFill>
                  <a:srgbClr val="1D4ED8"/>
                </a:solidFill>
                <a:latin typeface="Arial"/>
                <a:ea typeface="Arial"/>
                <a:cs typeface="Arial"/>
              </a:defRPr>
            </a:pPr>
            <a:r>
              <a:rPr sz="1125" b="1">
                <a:solidFill>
                  <a:srgbClr val="1D4ED8"/>
                </a:solidFill>
                <a:latin typeface="Arial"/>
                <a:ea typeface="Arial"/>
                <a:cs typeface="Arial"/>
              </a:rPr>
              <a:t>03 / PLANNED STEP 4 WORKFLOW</a:t>
            </a:r>
          </a:p>
        </p:txBody>
      </p:sp>
      <p:sp>
        <p:nvSpPr>
          <p:cNvPr id="2" name="">
            <a:extLst xmlns:a="http://schemas.openxmlformats.org/drawingml/2006/main">
              <a:ext uri="{FF2B5EF4-FFF2-40B4-BE49-F238E27FC236}">
                <a16:creationId xmlns:a16="http://schemas.microsoft.com/office/drawing/2014/main" id="{4CE11E3E-ADA7-4C42-AE82-C086F81BE238}"/>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1733"/>
                </a:solidFill>
                <a:latin typeface="Arial"/>
                <a:ea typeface="Arial"/>
                <a:cs typeface="Arial"/>
              </a:defRPr>
            </a:defPPr>
          </a:lstStyle>
          <a:p xmlns:a="http://schemas.openxmlformats.org/drawingml/2006/main">
            <a:pPr>
              <a:defRPr sz="3300" b="1">
                <a:solidFill>
                  <a:srgbClr val="0B1733"/>
                </a:solidFill>
                <a:latin typeface="Arial"/>
                <a:ea typeface="Arial"/>
                <a:cs typeface="Arial"/>
              </a:defRPr>
            </a:pPr>
            <a:r>
              <a:rPr sz="3300" b="1">
                <a:solidFill>
                  <a:srgbClr val="0B1733"/>
                </a:solidFill>
                <a:latin typeface="Arial"/>
                <a:ea typeface="Arial"/>
                <a:cs typeface="Arial"/>
              </a:rPr>
              <a:t>Automate evidence work. Keep the decision human.</a:t>
            </a:r>
          </a:p>
        </p:txBody>
      </p:sp>
      <p:sp>
        <p:nvSpPr>
          <p:cNvPr id="3" name="">
            <a:extLst xmlns:a="http://schemas.openxmlformats.org/drawingml/2006/main">
              <a:ext uri="{FF2B5EF4-FFF2-40B4-BE49-F238E27FC236}">
                <a16:creationId xmlns:a16="http://schemas.microsoft.com/office/drawing/2014/main" id="{B90C6E74-DFF4-4A7D-81F4-2B0DDBF92982}"/>
              </a:ext>
            </a:extLst>
          </p:cNvPr>
          <p:cNvSpPr>
            <a:spLocks xmlns:a="http://schemas.openxmlformats.org/drawingml/2006/main" noGrp="1"/>
          </p:cNvSpPr>
          <p:nvPr/>
        </p:nvSpPr>
        <p:spPr>
          <a:xfrm xmlns:a="http://schemas.openxmlformats.org/drawingml/2006/main">
            <a:off x="609600" y="648652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079"/>
                </a:solidFill>
                <a:latin typeface="Arial"/>
                <a:ea typeface="Arial"/>
                <a:cs typeface="Arial"/>
              </a:defRPr>
            </a:defPPr>
          </a:lstStyle>
          <a:p xmlns:a="http://schemas.openxmlformats.org/drawingml/2006/main">
            <a:pPr>
              <a:defRPr sz="975" b="0">
                <a:solidFill>
                  <a:srgbClr val="526079"/>
                </a:solidFill>
                <a:latin typeface="Arial"/>
                <a:ea typeface="Arial"/>
                <a:cs typeface="Arial"/>
              </a:defRPr>
            </a:pPr>
            <a:r>
              <a:rPr sz="975" b="0">
                <a:solidFill>
                  <a:srgbClr val="526079"/>
                </a:solidFill>
                <a:latin typeface="Arial"/>
                <a:ea typeface="Arial"/>
                <a:cs typeface="Arial"/>
              </a:rPr>
              <a:t>ATLIQ  /  DISCOVERY → AI OPPORTUNITY</a:t>
            </a:r>
          </a:p>
        </p:txBody>
      </p:sp>
      <p:sp>
        <p:nvSpPr>
          <p:cNvPr id="4" name="">
            <a:extLst xmlns:a="http://schemas.openxmlformats.org/drawingml/2006/main">
              <a:ext uri="{FF2B5EF4-FFF2-40B4-BE49-F238E27FC236}">
                <a16:creationId xmlns:a16="http://schemas.microsoft.com/office/drawing/2014/main" id="{6CDD796B-710D-457E-AE9E-499F6D3F1B77}"/>
              </a:ext>
            </a:extLst>
          </p:cNvPr>
          <p:cNvSpPr>
            <a:spLocks xmlns:a="http://schemas.openxmlformats.org/drawingml/2006/main" noGrp="1"/>
          </p:cNvSpPr>
          <p:nvPr/>
        </p:nvSpPr>
        <p:spPr>
          <a:xfrm xmlns:a="http://schemas.openxmlformats.org/drawingml/2006/main">
            <a:off x="11182350" y="64389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9"/>
                </a:solidFill>
                <a:latin typeface="Arial"/>
                <a:ea typeface="Arial"/>
                <a:cs typeface="Arial"/>
              </a:defRPr>
            </a:defPPr>
          </a:lstStyle>
          <a:p xmlns:a="http://schemas.openxmlformats.org/drawingml/2006/main">
            <a:pPr>
              <a:defRPr sz="1350" b="0">
                <a:solidFill>
                  <a:srgbClr val="526079"/>
                </a:solidFill>
                <a:latin typeface="Arial"/>
                <a:ea typeface="Arial"/>
                <a:cs typeface="Arial"/>
              </a:defRPr>
            </a:pPr>
            <a:r>
              <a:rPr sz="1350" b="0">
                <a:solidFill>
                  <a:srgbClr val="526079"/>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B6FD043-E50F-4963-83CD-3DA9DB825C01}"/>
              </a:ext>
            </a:extLst>
          </p:cNvPr>
          <p:cNvSpPr>
            <a:spLocks xmlns:a="http://schemas.openxmlformats.org/drawingml/2006/main" noGrp="1"/>
          </p:cNvSpPr>
          <p:nvPr/>
        </p:nvSpPr>
        <p:spPr>
          <a:xfrm xmlns:a="http://schemas.openxmlformats.org/drawingml/2006/main">
            <a:off x="609600" y="1790700"/>
            <a:ext cx="2695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D4ED8"/>
                </a:solidFill>
                <a:latin typeface="Arial"/>
                <a:ea typeface="Arial"/>
                <a:cs typeface="Arial"/>
              </a:defRPr>
            </a:defPPr>
          </a:lstStyle>
          <a:p xmlns:a="http://schemas.openxmlformats.org/drawingml/2006/main">
            <a:pPr>
              <a:defRPr sz="1575" b="1">
                <a:solidFill>
                  <a:srgbClr val="1D4ED8"/>
                </a:solidFill>
                <a:latin typeface="Arial"/>
                <a:ea typeface="Arial"/>
                <a:cs typeface="Arial"/>
              </a:defRPr>
            </a:pPr>
            <a:r>
              <a:rPr sz="1575" b="1">
                <a:solidFill>
                  <a:srgbClr val="1D4ED8"/>
                </a:solidFill>
                <a:latin typeface="Arial"/>
                <a:ea typeface="Arial"/>
                <a:cs typeface="Arial"/>
              </a:rPr>
              <a:t>INPUT</a:t>
            </a:r>
          </a:p>
        </p:txBody>
      </p:sp>
      <p:sp>
        <p:nvSpPr>
          <p:cNvPr id="6" name="">
            <a:extLst xmlns:a="http://schemas.openxmlformats.org/drawingml/2006/main">
              <a:ext uri="{FF2B5EF4-FFF2-40B4-BE49-F238E27FC236}">
                <a16:creationId xmlns:a16="http://schemas.microsoft.com/office/drawing/2014/main" id="{CF491AB0-6ED7-44F3-B808-8963135099F9}"/>
              </a:ext>
            </a:extLst>
          </p:cNvPr>
          <p:cNvSpPr>
            <a:spLocks xmlns:a="http://schemas.openxmlformats.org/drawingml/2006/main" noGrp="1"/>
          </p:cNvSpPr>
          <p:nvPr/>
        </p:nvSpPr>
        <p:spPr>
          <a:xfrm xmlns:a="http://schemas.openxmlformats.org/drawingml/2006/main">
            <a:off x="3457575" y="1762125"/>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B1733"/>
                </a:solidFill>
                <a:latin typeface="Arial"/>
                <a:ea typeface="Arial"/>
                <a:cs typeface="Arial"/>
              </a:defRPr>
            </a:defPPr>
          </a:lstStyle>
          <a:p xmlns:a="http://schemas.openxmlformats.org/drawingml/2006/main">
            <a:pPr>
              <a:defRPr sz="2175" b="0">
                <a:solidFill>
                  <a:srgbClr val="0B1733"/>
                </a:solidFill>
                <a:latin typeface="Arial"/>
                <a:ea typeface="Arial"/>
                <a:cs typeface="Arial"/>
              </a:defRPr>
            </a:pPr>
            <a:r>
              <a:rPr sz="2175" b="0">
                <a:solidFill>
                  <a:srgbClr val="0B1733"/>
                </a:solidFill>
                <a:latin typeface="Arial"/>
                <a:ea typeface="Arial"/>
                <a:cs typeface="Arial"/>
              </a:rPr>
              <a:t>Incoming contract + confirmed deal context</a:t>
            </a:r>
          </a:p>
        </p:txBody>
      </p:sp>
      <p:sp>
        <p:nvSpPr>
          <p:cNvPr id="7" name="">
            <a:extLst xmlns:a="http://schemas.openxmlformats.org/drawingml/2006/main">
              <a:ext uri="{FF2B5EF4-FFF2-40B4-BE49-F238E27FC236}">
                <a16:creationId xmlns:a16="http://schemas.microsoft.com/office/drawing/2014/main" id="{7F77C77E-570B-4695-8504-86D3347F300C}"/>
              </a:ext>
            </a:extLst>
          </p:cNvPr>
          <p:cNvSpPr>
            <a:spLocks xmlns:a="http://schemas.openxmlformats.org/drawingml/2006/main" noGrp="1"/>
          </p:cNvSpPr>
          <p:nvPr/>
        </p:nvSpPr>
        <p:spPr>
          <a:xfrm xmlns:a="http://schemas.openxmlformats.org/drawingml/2006/main">
            <a:off x="609600" y="2524125"/>
            <a:ext cx="2695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D4ED8"/>
                </a:solidFill>
                <a:latin typeface="Arial"/>
                <a:ea typeface="Arial"/>
                <a:cs typeface="Arial"/>
              </a:defRPr>
            </a:defPPr>
          </a:lstStyle>
          <a:p xmlns:a="http://schemas.openxmlformats.org/drawingml/2006/main">
            <a:pPr>
              <a:defRPr sz="1575" b="1">
                <a:solidFill>
                  <a:srgbClr val="1D4ED8"/>
                </a:solidFill>
                <a:latin typeface="Arial"/>
                <a:ea typeface="Arial"/>
                <a:cs typeface="Arial"/>
              </a:defRPr>
            </a:pPr>
            <a:r>
              <a:rPr sz="1575" b="1">
                <a:solidFill>
                  <a:srgbClr val="1D4ED8"/>
                </a:solidFill>
                <a:latin typeface="Arial"/>
                <a:ea typeface="Arial"/>
                <a:cs typeface="Arial"/>
              </a:rPr>
              <a:t>AI · RETRIEVE</a:t>
            </a:r>
          </a:p>
        </p:txBody>
      </p:sp>
      <p:sp>
        <p:nvSpPr>
          <p:cNvPr id="8" name="">
            <a:extLst xmlns:a="http://schemas.openxmlformats.org/drawingml/2006/main">
              <a:ext uri="{FF2B5EF4-FFF2-40B4-BE49-F238E27FC236}">
                <a16:creationId xmlns:a16="http://schemas.microsoft.com/office/drawing/2014/main" id="{2752F17F-E9D8-44E5-8E93-58EEBBAF549F}"/>
              </a:ext>
            </a:extLst>
          </p:cNvPr>
          <p:cNvSpPr>
            <a:spLocks xmlns:a="http://schemas.openxmlformats.org/drawingml/2006/main" noGrp="1"/>
          </p:cNvSpPr>
          <p:nvPr/>
        </p:nvSpPr>
        <p:spPr>
          <a:xfrm xmlns:a="http://schemas.openxmlformats.org/drawingml/2006/main">
            <a:off x="3457575" y="2495550"/>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B1733"/>
                </a:solidFill>
                <a:latin typeface="Arial"/>
                <a:ea typeface="Arial"/>
                <a:cs typeface="Arial"/>
              </a:defRPr>
            </a:defPPr>
          </a:lstStyle>
          <a:p xmlns:a="http://schemas.openxmlformats.org/drawingml/2006/main">
            <a:pPr>
              <a:defRPr sz="2175" b="0">
                <a:solidFill>
                  <a:srgbClr val="0B1733"/>
                </a:solidFill>
                <a:latin typeface="Arial"/>
                <a:ea typeface="Arial"/>
                <a:cs typeface="Arial"/>
              </a:defRPr>
            </a:pPr>
            <a:r>
              <a:rPr sz="2175" b="0">
                <a:solidFill>
                  <a:srgbClr val="0B1733"/>
                </a:solidFill>
                <a:latin typeface="Arial"/>
                <a:ea typeface="Arial"/>
                <a:cs typeface="Arial"/>
              </a:rPr>
              <a:t>Find relevant commitments in signed contracts</a:t>
            </a:r>
          </a:p>
        </p:txBody>
      </p:sp>
      <p:sp>
        <p:nvSpPr>
          <p:cNvPr id="9" name="">
            <a:extLst xmlns:a="http://schemas.openxmlformats.org/drawingml/2006/main">
              <a:ext uri="{FF2B5EF4-FFF2-40B4-BE49-F238E27FC236}">
                <a16:creationId xmlns:a16="http://schemas.microsoft.com/office/drawing/2014/main" id="{EE63827B-A93B-492C-9196-4A288322C1A8}"/>
              </a:ext>
            </a:extLst>
          </p:cNvPr>
          <p:cNvSpPr>
            <a:spLocks xmlns:a="http://schemas.openxmlformats.org/drawingml/2006/main" noGrp="1"/>
          </p:cNvSpPr>
          <p:nvPr/>
        </p:nvSpPr>
        <p:spPr>
          <a:xfrm xmlns:a="http://schemas.openxmlformats.org/drawingml/2006/main">
            <a:off x="609600" y="3257550"/>
            <a:ext cx="2695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D4ED8"/>
                </a:solidFill>
                <a:latin typeface="Arial"/>
                <a:ea typeface="Arial"/>
                <a:cs typeface="Arial"/>
              </a:defRPr>
            </a:defPPr>
          </a:lstStyle>
          <a:p xmlns:a="http://schemas.openxmlformats.org/drawingml/2006/main">
            <a:pPr>
              <a:defRPr sz="1575" b="1">
                <a:solidFill>
                  <a:srgbClr val="1D4ED8"/>
                </a:solidFill>
                <a:latin typeface="Arial"/>
                <a:ea typeface="Arial"/>
                <a:cs typeface="Arial"/>
              </a:defRPr>
            </a:pPr>
            <a:r>
              <a:rPr sz="1575" b="1">
                <a:solidFill>
                  <a:srgbClr val="1D4ED8"/>
                </a:solidFill>
                <a:latin typeface="Arial"/>
                <a:ea typeface="Arial"/>
                <a:cs typeface="Arial"/>
              </a:rPr>
              <a:t>AI · COMPARE</a:t>
            </a:r>
          </a:p>
        </p:txBody>
      </p:sp>
      <p:sp>
        <p:nvSpPr>
          <p:cNvPr id="10" name="">
            <a:extLst xmlns:a="http://schemas.openxmlformats.org/drawingml/2006/main">
              <a:ext uri="{FF2B5EF4-FFF2-40B4-BE49-F238E27FC236}">
                <a16:creationId xmlns:a16="http://schemas.microsoft.com/office/drawing/2014/main" id="{A41FB8B4-72E2-4E32-9A91-8ADCE33FCAA5}"/>
              </a:ext>
            </a:extLst>
          </p:cNvPr>
          <p:cNvSpPr>
            <a:spLocks xmlns:a="http://schemas.openxmlformats.org/drawingml/2006/main" noGrp="1"/>
          </p:cNvSpPr>
          <p:nvPr/>
        </p:nvSpPr>
        <p:spPr>
          <a:xfrm xmlns:a="http://schemas.openxmlformats.org/drawingml/2006/main">
            <a:off x="3457575" y="3228975"/>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B1733"/>
                </a:solidFill>
                <a:latin typeface="Arial"/>
                <a:ea typeface="Arial"/>
                <a:cs typeface="Arial"/>
              </a:defRPr>
            </a:defPPr>
          </a:lstStyle>
          <a:p xmlns:a="http://schemas.openxmlformats.org/drawingml/2006/main">
            <a:pPr>
              <a:defRPr sz="2175" b="0">
                <a:solidFill>
                  <a:srgbClr val="0B1733"/>
                </a:solidFill>
                <a:latin typeface="Arial"/>
                <a:ea typeface="Arial"/>
                <a:cs typeface="Arial"/>
              </a:defRPr>
            </a:pPr>
            <a:r>
              <a:rPr sz="2175" b="0">
                <a:solidFill>
                  <a:srgbClr val="0B1733"/>
                </a:solidFill>
                <a:latin typeface="Arial"/>
                <a:ea typeface="Arial"/>
                <a:cs typeface="Arial"/>
              </a:rPr>
              <a:t>Check overlap in scope, dates and exceptions</a:t>
            </a:r>
          </a:p>
        </p:txBody>
      </p:sp>
      <p:sp>
        <p:nvSpPr>
          <p:cNvPr id="11" name="">
            <a:extLst xmlns:a="http://schemas.openxmlformats.org/drawingml/2006/main">
              <a:ext uri="{FF2B5EF4-FFF2-40B4-BE49-F238E27FC236}">
                <a16:creationId xmlns:a16="http://schemas.microsoft.com/office/drawing/2014/main" id="{E90DCADA-DC37-4B12-B5CF-761403054FC3}"/>
              </a:ext>
            </a:extLst>
          </p:cNvPr>
          <p:cNvSpPr>
            <a:spLocks xmlns:a="http://schemas.openxmlformats.org/drawingml/2006/main" noGrp="1"/>
          </p:cNvSpPr>
          <p:nvPr/>
        </p:nvSpPr>
        <p:spPr>
          <a:xfrm xmlns:a="http://schemas.openxmlformats.org/drawingml/2006/main">
            <a:off x="609600" y="3990975"/>
            <a:ext cx="2695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D4ED8"/>
                </a:solidFill>
                <a:latin typeface="Arial"/>
                <a:ea typeface="Arial"/>
                <a:cs typeface="Arial"/>
              </a:defRPr>
            </a:defPPr>
          </a:lstStyle>
          <a:p xmlns:a="http://schemas.openxmlformats.org/drawingml/2006/main">
            <a:pPr>
              <a:defRPr sz="1575" b="1">
                <a:solidFill>
                  <a:srgbClr val="1D4ED8"/>
                </a:solidFill>
                <a:latin typeface="Arial"/>
                <a:ea typeface="Arial"/>
                <a:cs typeface="Arial"/>
              </a:defRPr>
            </a:pPr>
            <a:r>
              <a:rPr sz="1575" b="1">
                <a:solidFill>
                  <a:srgbClr val="1D4ED8"/>
                </a:solidFill>
                <a:latin typeface="Arial"/>
                <a:ea typeface="Arial"/>
                <a:cs typeface="Arial"/>
              </a:rPr>
              <a:t>AI · EXPLAIN</a:t>
            </a:r>
          </a:p>
        </p:txBody>
      </p:sp>
      <p:sp>
        <p:nvSpPr>
          <p:cNvPr id="12" name="">
            <a:extLst xmlns:a="http://schemas.openxmlformats.org/drawingml/2006/main">
              <a:ext uri="{FF2B5EF4-FFF2-40B4-BE49-F238E27FC236}">
                <a16:creationId xmlns:a16="http://schemas.microsoft.com/office/drawing/2014/main" id="{74474AE2-840C-4ED0-8DE1-F897A1AABAAB}"/>
              </a:ext>
            </a:extLst>
          </p:cNvPr>
          <p:cNvSpPr>
            <a:spLocks xmlns:a="http://schemas.openxmlformats.org/drawingml/2006/main" noGrp="1"/>
          </p:cNvSpPr>
          <p:nvPr/>
        </p:nvSpPr>
        <p:spPr>
          <a:xfrm xmlns:a="http://schemas.openxmlformats.org/drawingml/2006/main">
            <a:off x="3457575" y="3962400"/>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B1733"/>
                </a:solidFill>
                <a:latin typeface="Arial"/>
                <a:ea typeface="Arial"/>
                <a:cs typeface="Arial"/>
              </a:defRPr>
            </a:defPPr>
          </a:lstStyle>
          <a:p xmlns:a="http://schemas.openxmlformats.org/drawingml/2006/main">
            <a:pPr>
              <a:defRPr sz="2175" b="0">
                <a:solidFill>
                  <a:srgbClr val="0B1733"/>
                </a:solidFill>
                <a:latin typeface="Arial"/>
                <a:ea typeface="Arial"/>
                <a:cs typeface="Arial"/>
              </a:defRPr>
            </a:pPr>
            <a:r>
              <a:rPr sz="2175" b="0">
                <a:solidFill>
                  <a:srgbClr val="0B1733"/>
                </a:solidFill>
                <a:latin typeface="Arial"/>
                <a:ea typeface="Arial"/>
                <a:cs typeface="Arial"/>
              </a:rPr>
              <a:t>Present possible conflicts with source evidence</a:t>
            </a:r>
          </a:p>
        </p:txBody>
      </p:sp>
      <p:sp>
        <p:nvSpPr>
          <p:cNvPr id="13" name="">
            <a:extLst xmlns:a="http://schemas.openxmlformats.org/drawingml/2006/main">
              <a:ext uri="{FF2B5EF4-FFF2-40B4-BE49-F238E27FC236}">
                <a16:creationId xmlns:a16="http://schemas.microsoft.com/office/drawing/2014/main" id="{80ECE8A4-C682-4B24-BF0B-6C931D718559}"/>
              </a:ext>
            </a:extLst>
          </p:cNvPr>
          <p:cNvSpPr>
            <a:spLocks xmlns:a="http://schemas.openxmlformats.org/drawingml/2006/main" noGrp="1"/>
          </p:cNvSpPr>
          <p:nvPr/>
        </p:nvSpPr>
        <p:spPr>
          <a:xfrm xmlns:a="http://schemas.openxmlformats.org/drawingml/2006/main">
            <a:off x="609600" y="4724400"/>
            <a:ext cx="2695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B1733"/>
                </a:solidFill>
                <a:latin typeface="Arial"/>
                <a:ea typeface="Arial"/>
                <a:cs typeface="Arial"/>
              </a:defRPr>
            </a:defPPr>
          </a:lstStyle>
          <a:p xmlns:a="http://schemas.openxmlformats.org/drawingml/2006/main">
            <a:pPr>
              <a:defRPr sz="1575" b="1">
                <a:solidFill>
                  <a:srgbClr val="0B1733"/>
                </a:solidFill>
                <a:latin typeface="Arial"/>
                <a:ea typeface="Arial"/>
                <a:cs typeface="Arial"/>
              </a:defRPr>
            </a:pPr>
            <a:r>
              <a:rPr sz="1575" b="1">
                <a:solidFill>
                  <a:srgbClr val="0B1733"/>
                </a:solidFill>
                <a:latin typeface="Arial"/>
                <a:ea typeface="Arial"/>
                <a:cs typeface="Arial"/>
              </a:rPr>
              <a:t>HUMAN · DECIDE</a:t>
            </a:r>
          </a:p>
        </p:txBody>
      </p:sp>
      <p:sp>
        <p:nvSpPr>
          <p:cNvPr id="14" name="">
            <a:extLst xmlns:a="http://schemas.openxmlformats.org/drawingml/2006/main">
              <a:ext uri="{FF2B5EF4-FFF2-40B4-BE49-F238E27FC236}">
                <a16:creationId xmlns:a16="http://schemas.microsoft.com/office/drawing/2014/main" id="{FEEFF2A5-A011-4BA7-A325-CB3CA0044A7A}"/>
              </a:ext>
            </a:extLst>
          </p:cNvPr>
          <p:cNvSpPr>
            <a:spLocks xmlns:a="http://schemas.openxmlformats.org/drawingml/2006/main" noGrp="1"/>
          </p:cNvSpPr>
          <p:nvPr/>
        </p:nvSpPr>
        <p:spPr>
          <a:xfrm xmlns:a="http://schemas.openxmlformats.org/drawingml/2006/main">
            <a:off x="3457575" y="4695825"/>
            <a:ext cx="804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1733"/>
                </a:solidFill>
                <a:latin typeface="Arial"/>
                <a:ea typeface="Arial"/>
                <a:cs typeface="Arial"/>
              </a:defRPr>
            </a:defPPr>
          </a:lstStyle>
          <a:p xmlns:a="http://schemas.openxmlformats.org/drawingml/2006/main">
            <a:pPr>
              <a:defRPr sz="2175" b="1">
                <a:solidFill>
                  <a:srgbClr val="0B1733"/>
                </a:solidFill>
                <a:latin typeface="Arial"/>
                <a:ea typeface="Arial"/>
                <a:cs typeface="Arial"/>
              </a:defRPr>
            </a:pPr>
            <a:r>
              <a:rPr sz="2175" b="1">
                <a:solidFill>
                  <a:srgbClr val="0B1733"/>
                </a:solidFill>
                <a:latin typeface="Arial"/>
                <a:ea typeface="Arial"/>
                <a:cs typeface="Arial"/>
              </a:rPr>
              <a:t>Validate findings and choose the next action</a:t>
            </a:r>
          </a:p>
        </p:txBody>
      </p:sp>
      <p:sp>
        <p:nvSpPr>
          <p:cNvPr id="15" name="">
            <a:extLst xmlns:a="http://schemas.openxmlformats.org/drawingml/2006/main">
              <a:ext uri="{FF2B5EF4-FFF2-40B4-BE49-F238E27FC236}">
                <a16:creationId xmlns:a16="http://schemas.microsoft.com/office/drawing/2014/main" id="{EF6F562A-4F76-4689-96C8-D890480D6209}"/>
              </a:ext>
            </a:extLst>
          </p:cNvPr>
          <p:cNvSpPr>
            <a:spLocks xmlns:a="http://schemas.openxmlformats.org/drawingml/2006/main" noGrp="1"/>
          </p:cNvSpPr>
          <p:nvPr/>
        </p:nvSpPr>
        <p:spPr>
          <a:xfrm xmlns:a="http://schemas.openxmlformats.org/drawingml/2006/main">
            <a:off x="609600" y="5657850"/>
            <a:ext cx="523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079"/>
                </a:solidFill>
                <a:latin typeface="Arial"/>
                <a:ea typeface="Arial"/>
                <a:cs typeface="Arial"/>
              </a:defRPr>
            </a:defPPr>
          </a:lstStyle>
          <a:p xmlns:a="http://schemas.openxmlformats.org/drawingml/2006/main">
            <a:pPr>
              <a:defRPr sz="1725" b="0">
                <a:solidFill>
                  <a:srgbClr val="526079"/>
                </a:solidFill>
                <a:latin typeface="Arial"/>
                <a:ea typeface="Arial"/>
                <a:cs typeface="Arial"/>
              </a:defRPr>
            </a:pPr>
            <a:r>
              <a:rPr sz="1725" b="0">
                <a:solidFill>
                  <a:srgbClr val="526079"/>
                </a:solidFill>
                <a:latin typeface="Arial"/>
                <a:ea typeface="Arial"/>
                <a:cs typeface="Arial"/>
              </a:rPr>
              <a:t>Missing evidence → request clarification</a:t>
            </a:r>
          </a:p>
        </p:txBody>
      </p:sp>
      <p:sp>
        <p:nvSpPr>
          <p:cNvPr id="16" name="">
            <a:extLst xmlns:a="http://schemas.openxmlformats.org/drawingml/2006/main">
              <a:ext uri="{FF2B5EF4-FFF2-40B4-BE49-F238E27FC236}">
                <a16:creationId xmlns:a16="http://schemas.microsoft.com/office/drawing/2014/main" id="{4C3B516D-978D-4F4D-BFC0-8A1827532FF8}"/>
              </a:ext>
            </a:extLst>
          </p:cNvPr>
          <p:cNvSpPr>
            <a:spLocks xmlns:a="http://schemas.openxmlformats.org/drawingml/2006/main" noGrp="1"/>
          </p:cNvSpPr>
          <p:nvPr/>
        </p:nvSpPr>
        <p:spPr>
          <a:xfrm xmlns:a="http://schemas.openxmlformats.org/drawingml/2006/main">
            <a:off x="6229350" y="5657850"/>
            <a:ext cx="53625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079"/>
                </a:solidFill>
                <a:latin typeface="Arial"/>
                <a:ea typeface="Arial"/>
                <a:cs typeface="Arial"/>
              </a:defRPr>
            </a:defPPr>
          </a:lstStyle>
          <a:p xmlns:a="http://schemas.openxmlformats.org/drawingml/2006/main">
            <a:pPr>
              <a:defRPr sz="1725" b="0">
                <a:solidFill>
                  <a:srgbClr val="526079"/>
                </a:solidFill>
                <a:latin typeface="Arial"/>
                <a:ea typeface="Arial"/>
                <a:cs typeface="Arial"/>
              </a:defRPr>
            </a:pPr>
            <a:r>
              <a:rPr sz="1725" b="0">
                <a:solidFill>
                  <a:srgbClr val="526079"/>
                </a:solidFill>
                <a:latin typeface="Arial"/>
                <a:ea typeface="Arial"/>
                <a:cs typeface="Arial"/>
              </a:rPr>
              <a:t>Changed evidence → compare and review again</a:t>
            </a:r>
          </a:p>
        </p:txBody>
      </p:sp>
    </p:spTree>
    <p:extLst>
      <p:ext uri="{BB962C8B-B14F-4D97-AF65-F5344CB8AC3E}">
        <p14:creationId xmlns:p14="http://schemas.microsoft.com/office/powerpoint/2010/main" val="1906458444"/>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694ACBA-AD07-4071-89E7-69A7329D0F03}"/>
              </a:ext>
            </a:extLst>
          </p:cNvPr>
          <p:cNvSpPr>
            <a:spLocks xmlns:a="http://schemas.openxmlformats.org/drawingml/2006/main" noGrp="1"/>
          </p:cNvSpPr>
          <p:nvPr/>
        </p:nvSpPr>
        <p:spPr>
          <a:xfrm xmlns:a="http://schemas.openxmlformats.org/drawingml/2006/main">
            <a:off x="609600" y="22860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1D4ED8"/>
                </a:solidFill>
                <a:latin typeface="Arial"/>
                <a:ea typeface="Arial"/>
                <a:cs typeface="Arial"/>
              </a:defRPr>
            </a:defPPr>
          </a:lstStyle>
          <a:p xmlns:a="http://schemas.openxmlformats.org/drawingml/2006/main">
            <a:pPr>
              <a:defRPr sz="1125" b="1">
                <a:solidFill>
                  <a:srgbClr val="1D4ED8"/>
                </a:solidFill>
                <a:latin typeface="Arial"/>
                <a:ea typeface="Arial"/>
                <a:cs typeface="Arial"/>
              </a:defRPr>
            </a:pPr>
            <a:r>
              <a:rPr sz="1125" b="1">
                <a:solidFill>
                  <a:srgbClr val="1D4ED8"/>
                </a:solidFill>
                <a:latin typeface="Arial"/>
                <a:ea typeface="Arial"/>
                <a:cs typeface="Arial"/>
              </a:rPr>
              <a:t>04 / MVP BOUNDARY &amp; GUARDRAILS</a:t>
            </a:r>
          </a:p>
        </p:txBody>
      </p:sp>
      <p:sp>
        <p:nvSpPr>
          <p:cNvPr id="2" name="">
            <a:extLst xmlns:a="http://schemas.openxmlformats.org/drawingml/2006/main">
              <a:ext uri="{FF2B5EF4-FFF2-40B4-BE49-F238E27FC236}">
                <a16:creationId xmlns:a16="http://schemas.microsoft.com/office/drawing/2014/main" id="{3D58909F-CCCF-4F62-A6F5-FEF1A625C6FD}"/>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1733"/>
                </a:solidFill>
                <a:latin typeface="Arial"/>
                <a:ea typeface="Arial"/>
                <a:cs typeface="Arial"/>
              </a:defRPr>
            </a:defPPr>
          </a:lstStyle>
          <a:p xmlns:a="http://schemas.openxmlformats.org/drawingml/2006/main">
            <a:pPr>
              <a:defRPr sz="3300" b="1">
                <a:solidFill>
                  <a:srgbClr val="0B1733"/>
                </a:solidFill>
                <a:latin typeface="Arial"/>
                <a:ea typeface="Arial"/>
                <a:cs typeface="Arial"/>
              </a:defRPr>
            </a:pPr>
            <a:r>
              <a:rPr sz="3300" b="1">
                <a:solidFill>
                  <a:srgbClr val="0B1733"/>
                </a:solidFill>
                <a:latin typeface="Arial"/>
                <a:ea typeface="Arial"/>
                <a:cs typeface="Arial"/>
              </a:rPr>
              <a:t>Evidence supports the review. People own the deal.</a:t>
            </a:r>
          </a:p>
        </p:txBody>
      </p:sp>
      <p:sp>
        <p:nvSpPr>
          <p:cNvPr id="3" name="">
            <a:extLst xmlns:a="http://schemas.openxmlformats.org/drawingml/2006/main">
              <a:ext uri="{FF2B5EF4-FFF2-40B4-BE49-F238E27FC236}">
                <a16:creationId xmlns:a16="http://schemas.microsoft.com/office/drawing/2014/main" id="{8930077D-85B7-4ADE-8E9A-9319B7C25226}"/>
              </a:ext>
            </a:extLst>
          </p:cNvPr>
          <p:cNvSpPr>
            <a:spLocks xmlns:a="http://schemas.openxmlformats.org/drawingml/2006/main" noGrp="1"/>
          </p:cNvSpPr>
          <p:nvPr/>
        </p:nvSpPr>
        <p:spPr>
          <a:xfrm xmlns:a="http://schemas.openxmlformats.org/drawingml/2006/main">
            <a:off x="609600" y="6486525"/>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079"/>
                </a:solidFill>
                <a:latin typeface="Arial"/>
                <a:ea typeface="Arial"/>
                <a:cs typeface="Arial"/>
              </a:defRPr>
            </a:defPPr>
          </a:lstStyle>
          <a:p xmlns:a="http://schemas.openxmlformats.org/drawingml/2006/main">
            <a:pPr>
              <a:defRPr sz="975" b="0">
                <a:solidFill>
                  <a:srgbClr val="526079"/>
                </a:solidFill>
                <a:latin typeface="Arial"/>
                <a:ea typeface="Arial"/>
                <a:cs typeface="Arial"/>
              </a:defRPr>
            </a:pPr>
            <a:r>
              <a:rPr sz="975" b="0">
                <a:solidFill>
                  <a:srgbClr val="526079"/>
                </a:solidFill>
                <a:latin typeface="Arial"/>
                <a:ea typeface="Arial"/>
                <a:cs typeface="Arial"/>
              </a:rPr>
              <a:t>ATLIQ  /  DISCOVERY → AI OPPORTUNITY</a:t>
            </a:r>
          </a:p>
        </p:txBody>
      </p:sp>
      <p:sp>
        <p:nvSpPr>
          <p:cNvPr id="4" name="">
            <a:extLst xmlns:a="http://schemas.openxmlformats.org/drawingml/2006/main">
              <a:ext uri="{FF2B5EF4-FFF2-40B4-BE49-F238E27FC236}">
                <a16:creationId xmlns:a16="http://schemas.microsoft.com/office/drawing/2014/main" id="{E05D303D-7739-427D-8534-084258D77074}"/>
              </a:ext>
            </a:extLst>
          </p:cNvPr>
          <p:cNvSpPr>
            <a:spLocks xmlns:a="http://schemas.openxmlformats.org/drawingml/2006/main" noGrp="1"/>
          </p:cNvSpPr>
          <p:nvPr/>
        </p:nvSpPr>
        <p:spPr>
          <a:xfrm xmlns:a="http://schemas.openxmlformats.org/drawingml/2006/main">
            <a:off x="11182350" y="6438900"/>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9"/>
                </a:solidFill>
                <a:latin typeface="Arial"/>
                <a:ea typeface="Arial"/>
                <a:cs typeface="Arial"/>
              </a:defRPr>
            </a:defPPr>
          </a:lstStyle>
          <a:p xmlns:a="http://schemas.openxmlformats.org/drawingml/2006/main">
            <a:pPr>
              <a:defRPr sz="1350" b="0">
                <a:solidFill>
                  <a:srgbClr val="526079"/>
                </a:solidFill>
                <a:latin typeface="Arial"/>
                <a:ea typeface="Arial"/>
                <a:cs typeface="Arial"/>
              </a:defRPr>
            </a:pPr>
            <a:r>
              <a:rPr sz="1350" b="0">
                <a:solidFill>
                  <a:srgbClr val="526079"/>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4811235-6338-44A6-8934-03EF20F5C098}"/>
              </a:ext>
            </a:extLst>
          </p:cNvPr>
          <p:cNvSpPr>
            <a:spLocks xmlns:a="http://schemas.openxmlformats.org/drawingml/2006/main" noGrp="1"/>
          </p:cNvSpPr>
          <p:nvPr/>
        </p:nvSpPr>
        <p:spPr>
          <a:xfrm xmlns:a="http://schemas.openxmlformats.org/drawingml/2006/main">
            <a:off x="609600" y="1647825"/>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D4ED8"/>
                </a:solidFill>
                <a:latin typeface="Arial"/>
                <a:ea typeface="Arial"/>
                <a:cs typeface="Arial"/>
              </a:defRPr>
            </a:defPPr>
          </a:lstStyle>
          <a:p xmlns:a="http://schemas.openxmlformats.org/drawingml/2006/main">
            <a:pPr>
              <a:defRPr sz="2250" b="1">
                <a:solidFill>
                  <a:srgbClr val="1D4ED8"/>
                </a:solidFill>
                <a:latin typeface="Arial"/>
                <a:ea typeface="Arial"/>
                <a:cs typeface="Arial"/>
              </a:defRPr>
            </a:pPr>
            <a:r>
              <a:rPr sz="2250" b="1">
                <a:solidFill>
                  <a:srgbClr val="1D4ED8"/>
                </a:solidFill>
                <a:latin typeface="Arial"/>
                <a:ea typeface="Arial"/>
                <a:cs typeface="Arial"/>
              </a:rPr>
              <a:t>MVP 1  ·  Historical exclusivity and non-compete checks</a:t>
            </a:r>
          </a:p>
        </p:txBody>
      </p:sp>
      <p:sp>
        <p:nvSpPr>
          <p:cNvPr id="6" name="">
            <a:extLst xmlns:a="http://schemas.openxmlformats.org/drawingml/2006/main">
              <a:ext uri="{FF2B5EF4-FFF2-40B4-BE49-F238E27FC236}">
                <a16:creationId xmlns:a16="http://schemas.microsoft.com/office/drawing/2014/main" id="{24856D65-36B8-4A12-B513-6D007379A530}"/>
              </a:ext>
            </a:extLst>
          </p:cNvPr>
          <p:cNvSpPr>
            <a:spLocks xmlns:a="http://schemas.openxmlformats.org/drawingml/2006/main" noGrp="1"/>
          </p:cNvSpPr>
          <p:nvPr/>
        </p:nvSpPr>
        <p:spPr>
          <a:xfrm xmlns:a="http://schemas.openxmlformats.org/drawingml/2006/main">
            <a:off x="609600" y="26193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B1733"/>
                </a:solidFill>
                <a:latin typeface="Arial"/>
                <a:ea typeface="Arial"/>
                <a:cs typeface="Arial"/>
              </a:defRPr>
            </a:defPPr>
          </a:lstStyle>
          <a:p xmlns:a="http://schemas.openxmlformats.org/drawingml/2006/main">
            <a:pPr>
              <a:defRPr sz="1950" b="1">
                <a:solidFill>
                  <a:srgbClr val="0B1733"/>
                </a:solidFill>
                <a:latin typeface="Arial"/>
                <a:ea typeface="Arial"/>
                <a:cs typeface="Arial"/>
              </a:defRPr>
            </a:pPr>
            <a:r>
              <a:rPr sz="1950" b="1">
                <a:solidFill>
                  <a:srgbClr val="0B1733"/>
                </a:solidFill>
                <a:latin typeface="Arial"/>
                <a:ea typeface="Arial"/>
                <a:cs typeface="Arial"/>
              </a:rPr>
              <a:t>Ground every finding</a:t>
            </a:r>
          </a:p>
        </p:txBody>
      </p:sp>
      <p:sp>
        <p:nvSpPr>
          <p:cNvPr id="7" name="">
            <a:extLst xmlns:a="http://schemas.openxmlformats.org/drawingml/2006/main">
              <a:ext uri="{FF2B5EF4-FFF2-40B4-BE49-F238E27FC236}">
                <a16:creationId xmlns:a16="http://schemas.microsoft.com/office/drawing/2014/main" id="{EAEAD16D-E846-4816-8AEB-9570A6E52AB2}"/>
              </a:ext>
            </a:extLst>
          </p:cNvPr>
          <p:cNvSpPr>
            <a:spLocks xmlns:a="http://schemas.openxmlformats.org/drawingml/2006/main" noGrp="1"/>
          </p:cNvSpPr>
          <p:nvPr/>
        </p:nvSpPr>
        <p:spPr>
          <a:xfrm xmlns:a="http://schemas.openxmlformats.org/drawingml/2006/main">
            <a:off x="4362450" y="2619375"/>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079"/>
                </a:solidFill>
                <a:latin typeface="Arial"/>
                <a:ea typeface="Arial"/>
                <a:cs typeface="Arial"/>
              </a:defRPr>
            </a:defPPr>
          </a:lstStyle>
          <a:p xmlns:a="http://schemas.openxmlformats.org/drawingml/2006/main">
            <a:pPr>
              <a:defRPr sz="1950" b="0">
                <a:solidFill>
                  <a:srgbClr val="526079"/>
                </a:solidFill>
                <a:latin typeface="Arial"/>
                <a:ea typeface="Arial"/>
                <a:cs typeface="Arial"/>
              </a:defRPr>
            </a:pPr>
            <a:r>
              <a:rPr sz="1950" b="0">
                <a:solidFill>
                  <a:srgbClr val="526079"/>
                </a:solidFill>
                <a:latin typeface="Arial"/>
                <a:ea typeface="Arial"/>
                <a:cs typeface="Arial"/>
              </a:rPr>
              <a:t>Show the old clause, new terms and reason for concern.</a:t>
            </a:r>
          </a:p>
        </p:txBody>
      </p:sp>
      <p:sp>
        <p:nvSpPr>
          <p:cNvPr id="8" name="">
            <a:extLst xmlns:a="http://schemas.openxmlformats.org/drawingml/2006/main">
              <a:ext uri="{FF2B5EF4-FFF2-40B4-BE49-F238E27FC236}">
                <a16:creationId xmlns:a16="http://schemas.microsoft.com/office/drawing/2014/main" id="{012F54F4-A25D-481A-B287-1669803FABCB}"/>
              </a:ext>
            </a:extLst>
          </p:cNvPr>
          <p:cNvSpPr>
            <a:spLocks xmlns:a="http://schemas.openxmlformats.org/drawingml/2006/main" noGrp="1"/>
          </p:cNvSpPr>
          <p:nvPr/>
        </p:nvSpPr>
        <p:spPr>
          <a:xfrm xmlns:a="http://schemas.openxmlformats.org/drawingml/2006/main">
            <a:off x="609600" y="33623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B1733"/>
                </a:solidFill>
                <a:latin typeface="Arial"/>
                <a:ea typeface="Arial"/>
                <a:cs typeface="Arial"/>
              </a:defRPr>
            </a:defPPr>
          </a:lstStyle>
          <a:p xmlns:a="http://schemas.openxmlformats.org/drawingml/2006/main">
            <a:pPr>
              <a:defRPr sz="1950" b="1">
                <a:solidFill>
                  <a:srgbClr val="0B1733"/>
                </a:solidFill>
                <a:latin typeface="Arial"/>
                <a:ea typeface="Arial"/>
                <a:cs typeface="Arial"/>
              </a:defRPr>
            </a:pPr>
            <a:r>
              <a:rPr sz="1950" b="1">
                <a:solidFill>
                  <a:srgbClr val="0B1733"/>
                </a:solidFill>
                <a:latin typeface="Arial"/>
                <a:ea typeface="Arial"/>
                <a:cs typeface="Arial"/>
              </a:rPr>
              <a:t>Validate possible conflicts</a:t>
            </a:r>
          </a:p>
        </p:txBody>
      </p:sp>
      <p:sp>
        <p:nvSpPr>
          <p:cNvPr id="9" name="">
            <a:extLst xmlns:a="http://schemas.openxmlformats.org/drawingml/2006/main">
              <a:ext uri="{FF2B5EF4-FFF2-40B4-BE49-F238E27FC236}">
                <a16:creationId xmlns:a16="http://schemas.microsoft.com/office/drawing/2014/main" id="{E9D2772F-7A0D-4808-A0FD-3AEB7CF1A5A0}"/>
              </a:ext>
            </a:extLst>
          </p:cNvPr>
          <p:cNvSpPr>
            <a:spLocks xmlns:a="http://schemas.openxmlformats.org/drawingml/2006/main" noGrp="1"/>
          </p:cNvSpPr>
          <p:nvPr/>
        </p:nvSpPr>
        <p:spPr>
          <a:xfrm xmlns:a="http://schemas.openxmlformats.org/drawingml/2006/main">
            <a:off x="4362450" y="3362325"/>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079"/>
                </a:solidFill>
                <a:latin typeface="Arial"/>
                <a:ea typeface="Arial"/>
                <a:cs typeface="Arial"/>
              </a:defRPr>
            </a:defPPr>
          </a:lstStyle>
          <a:p xmlns:a="http://schemas.openxmlformats.org/drawingml/2006/main">
            <a:pPr>
              <a:defRPr sz="1950" b="0">
                <a:solidFill>
                  <a:srgbClr val="526079"/>
                </a:solidFill>
                <a:latin typeface="Arial"/>
                <a:ea typeface="Arial"/>
                <a:cs typeface="Arial"/>
              </a:defRPr>
            </a:pPr>
            <a:r>
              <a:rPr sz="1950" b="0">
                <a:solidFill>
                  <a:srgbClr val="526079"/>
                </a:solidFill>
                <a:latin typeface="Arial"/>
                <a:ea typeface="Arial"/>
                <a:cs typeface="Arial"/>
              </a:rPr>
              <a:t>A human confirms whether the finding is a real issue.</a:t>
            </a:r>
          </a:p>
        </p:txBody>
      </p:sp>
      <p:sp>
        <p:nvSpPr>
          <p:cNvPr id="10" name="">
            <a:extLst xmlns:a="http://schemas.openxmlformats.org/drawingml/2006/main">
              <a:ext uri="{FF2B5EF4-FFF2-40B4-BE49-F238E27FC236}">
                <a16:creationId xmlns:a16="http://schemas.microsoft.com/office/drawing/2014/main" id="{598CE6C7-EA11-4894-A449-0608A932665A}"/>
              </a:ext>
            </a:extLst>
          </p:cNvPr>
          <p:cNvSpPr>
            <a:spLocks xmlns:a="http://schemas.openxmlformats.org/drawingml/2006/main" noGrp="1"/>
          </p:cNvSpPr>
          <p:nvPr/>
        </p:nvSpPr>
        <p:spPr>
          <a:xfrm xmlns:a="http://schemas.openxmlformats.org/drawingml/2006/main">
            <a:off x="609600" y="41052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B1733"/>
                </a:solidFill>
                <a:latin typeface="Arial"/>
                <a:ea typeface="Arial"/>
                <a:cs typeface="Arial"/>
              </a:defRPr>
            </a:defPPr>
          </a:lstStyle>
          <a:p xmlns:a="http://schemas.openxmlformats.org/drawingml/2006/main">
            <a:pPr>
              <a:defRPr sz="1950" b="1">
                <a:solidFill>
                  <a:srgbClr val="0B1733"/>
                </a:solidFill>
                <a:latin typeface="Arial"/>
                <a:ea typeface="Arial"/>
                <a:cs typeface="Arial"/>
              </a:defRPr>
            </a:pPr>
            <a:r>
              <a:rPr sz="1950" b="1">
                <a:solidFill>
                  <a:srgbClr val="0B1733"/>
                </a:solidFill>
                <a:latin typeface="Arial"/>
                <a:ea typeface="Arial"/>
                <a:cs typeface="Arial"/>
              </a:rPr>
              <a:t>Keep authority human</a:t>
            </a:r>
          </a:p>
        </p:txBody>
      </p:sp>
      <p:sp>
        <p:nvSpPr>
          <p:cNvPr id="11" name="">
            <a:extLst xmlns:a="http://schemas.openxmlformats.org/drawingml/2006/main">
              <a:ext uri="{FF2B5EF4-FFF2-40B4-BE49-F238E27FC236}">
                <a16:creationId xmlns:a16="http://schemas.microsoft.com/office/drawing/2014/main" id="{864C5496-2EDE-40E4-B78A-6EE96ACC3981}"/>
              </a:ext>
            </a:extLst>
          </p:cNvPr>
          <p:cNvSpPr>
            <a:spLocks xmlns:a="http://schemas.openxmlformats.org/drawingml/2006/main" noGrp="1"/>
          </p:cNvSpPr>
          <p:nvPr/>
        </p:nvSpPr>
        <p:spPr>
          <a:xfrm xmlns:a="http://schemas.openxmlformats.org/drawingml/2006/main">
            <a:off x="4362450" y="4105275"/>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079"/>
                </a:solidFill>
                <a:latin typeface="Arial"/>
                <a:ea typeface="Arial"/>
                <a:cs typeface="Arial"/>
              </a:defRPr>
            </a:defPPr>
          </a:lstStyle>
          <a:p xmlns:a="http://schemas.openxmlformats.org/drawingml/2006/main">
            <a:pPr>
              <a:defRPr sz="1950" b="0">
                <a:solidFill>
                  <a:srgbClr val="526079"/>
                </a:solidFill>
                <a:latin typeface="Arial"/>
                <a:ea typeface="Arial"/>
                <a:cs typeface="Arial"/>
              </a:defRPr>
            </a:pPr>
            <a:r>
              <a:rPr sz="1950" b="0">
                <a:solidFill>
                  <a:srgbClr val="526079"/>
                </a:solidFill>
                <a:latin typeface="Arial"/>
                <a:ea typeface="Arial"/>
                <a:cs typeface="Arial"/>
              </a:rPr>
              <a:t>AI cannot approve, reject or renegotiate the deal.</a:t>
            </a:r>
          </a:p>
        </p:txBody>
      </p:sp>
      <p:sp>
        <p:nvSpPr>
          <p:cNvPr id="12" name="">
            <a:extLst xmlns:a="http://schemas.openxmlformats.org/drawingml/2006/main">
              <a:ext uri="{FF2B5EF4-FFF2-40B4-BE49-F238E27FC236}">
                <a16:creationId xmlns:a16="http://schemas.microsoft.com/office/drawing/2014/main" id="{8145ED71-5A03-4FAA-8948-81D7CC0E822D}"/>
              </a:ext>
            </a:extLst>
          </p:cNvPr>
          <p:cNvSpPr>
            <a:spLocks xmlns:a="http://schemas.openxmlformats.org/drawingml/2006/main" noGrp="1"/>
          </p:cNvSpPr>
          <p:nvPr/>
        </p:nvSpPr>
        <p:spPr>
          <a:xfrm xmlns:a="http://schemas.openxmlformats.org/drawingml/2006/main">
            <a:off x="609600" y="484822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B1733"/>
                </a:solidFill>
                <a:latin typeface="Arial"/>
                <a:ea typeface="Arial"/>
                <a:cs typeface="Arial"/>
              </a:defRPr>
            </a:defPPr>
          </a:lstStyle>
          <a:p xmlns:a="http://schemas.openxmlformats.org/drawingml/2006/main">
            <a:pPr>
              <a:defRPr sz="1950" b="1">
                <a:solidFill>
                  <a:srgbClr val="0B1733"/>
                </a:solidFill>
                <a:latin typeface="Arial"/>
                <a:ea typeface="Arial"/>
                <a:cs typeface="Arial"/>
              </a:defRPr>
            </a:pPr>
            <a:r>
              <a:rPr sz="1950" b="1">
                <a:solidFill>
                  <a:srgbClr val="0B1733"/>
                </a:solidFill>
                <a:latin typeface="Arial"/>
                <a:ea typeface="Arial"/>
                <a:cs typeface="Arial"/>
              </a:rPr>
              <a:t>Protect contract information</a:t>
            </a:r>
          </a:p>
        </p:txBody>
      </p:sp>
      <p:sp>
        <p:nvSpPr>
          <p:cNvPr id="13" name="">
            <a:extLst xmlns:a="http://schemas.openxmlformats.org/drawingml/2006/main">
              <a:ext uri="{FF2B5EF4-FFF2-40B4-BE49-F238E27FC236}">
                <a16:creationId xmlns:a16="http://schemas.microsoft.com/office/drawing/2014/main" id="{A92D7CAE-7AC8-404D-9D81-A1F6254A91CE}"/>
              </a:ext>
            </a:extLst>
          </p:cNvPr>
          <p:cNvSpPr>
            <a:spLocks xmlns:a="http://schemas.openxmlformats.org/drawingml/2006/main" noGrp="1"/>
          </p:cNvSpPr>
          <p:nvPr/>
        </p:nvSpPr>
        <p:spPr>
          <a:xfrm xmlns:a="http://schemas.openxmlformats.org/drawingml/2006/main">
            <a:off x="4362450" y="4848225"/>
            <a:ext cx="714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079"/>
                </a:solidFill>
                <a:latin typeface="Arial"/>
                <a:ea typeface="Arial"/>
                <a:cs typeface="Arial"/>
              </a:defRPr>
            </a:defPPr>
          </a:lstStyle>
          <a:p xmlns:a="http://schemas.openxmlformats.org/drawingml/2006/main">
            <a:pPr>
              <a:defRPr sz="1950" b="0">
                <a:solidFill>
                  <a:srgbClr val="526079"/>
                </a:solidFill>
                <a:latin typeface="Arial"/>
                <a:ea typeface="Arial"/>
                <a:cs typeface="Arial"/>
              </a:defRPr>
            </a:pPr>
            <a:r>
              <a:rPr sz="1950" b="0">
                <a:solidFill>
                  <a:srgbClr val="526079"/>
                </a:solidFill>
                <a:latin typeface="Arial"/>
                <a:ea typeface="Arial"/>
                <a:cs typeface="Arial"/>
              </a:rPr>
              <a:t>Restrict access to authorised users.</a:t>
            </a:r>
          </a:p>
        </p:txBody>
      </p:sp>
      <p:sp>
        <p:nvSpPr>
          <p:cNvPr id="14" name="">
            <a:extLst xmlns:a="http://schemas.openxmlformats.org/drawingml/2006/main">
              <a:ext uri="{FF2B5EF4-FFF2-40B4-BE49-F238E27FC236}">
                <a16:creationId xmlns:a16="http://schemas.microsoft.com/office/drawing/2014/main" id="{A9060EA2-DEE9-4172-B9DC-9029FE020BE9}"/>
              </a:ext>
            </a:extLst>
          </p:cNvPr>
          <p:cNvSpPr>
            <a:spLocks xmlns:a="http://schemas.openxmlformats.org/drawingml/2006/main" noGrp="1"/>
          </p:cNvSpPr>
          <p:nvPr/>
        </p:nvSpPr>
        <p:spPr>
          <a:xfrm xmlns:a="http://schemas.openxmlformats.org/drawingml/2006/main">
            <a:off x="609600" y="59436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D4ED8"/>
                </a:solidFill>
                <a:latin typeface="Arial"/>
                <a:ea typeface="Arial"/>
                <a:cs typeface="Arial"/>
              </a:defRPr>
            </a:defPPr>
          </a:lstStyle>
          <a:p xmlns:a="http://schemas.openxmlformats.org/drawingml/2006/main">
            <a:pPr>
              <a:defRPr sz="1725" b="1">
                <a:solidFill>
                  <a:srgbClr val="1D4ED8"/>
                </a:solidFill>
                <a:latin typeface="Arial"/>
                <a:ea typeface="Arial"/>
                <a:cs typeface="Arial"/>
              </a:defRPr>
            </a:pPr>
            <a:r>
              <a:rPr sz="1725" b="1">
                <a:solidFill>
                  <a:srgbClr val="1D4ED8"/>
                </a:solidFill>
                <a:latin typeface="Arial"/>
                <a:ea typeface="Arial"/>
                <a:cs typeface="Arial"/>
              </a:rPr>
              <a:t>HUMAN IN THE LOOP  ·  Final review and signing authority stay with people.</a:t>
            </a:r>
          </a:p>
        </p:txBody>
      </p:sp>
    </p:spTree>
    <p:extLst>
      <p:ext uri="{BB962C8B-B14F-4D97-AF65-F5344CB8AC3E}">
        <p14:creationId xmlns:p14="http://schemas.microsoft.com/office/powerpoint/2010/main" val="307938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2026-10-11T12:28:11.8770000Z</dcterms:created>
  <dcterms:modified xsi:type="dcterms:W3CDTF">2026-10-11T12:28:11.8780000Z</dcterms:modified>
</coreProperties>
</file>